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41" r:id="rId4"/>
  </p:sldMasterIdLst>
  <p:notesMasterIdLst>
    <p:notesMasterId r:id="rId39"/>
  </p:notesMasterIdLst>
  <p:handoutMasterIdLst>
    <p:handoutMasterId r:id="rId40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56A67525-4E6A-4841-911D-D764B525B6DB}">
          <p14:sldIdLst>
            <p14:sldId id="2147469820"/>
            <p14:sldId id="2147482410"/>
            <p14:sldId id="2147469822"/>
            <p14:sldId id="2891"/>
          </p14:sldIdLst>
        </p14:section>
        <p14:section name="Contexte" id="{C0D68D0B-5F00-4FAA-B6F9-8BFD5CFCF93F}">
          <p14:sldIdLst>
            <p14:sldId id="2867"/>
            <p14:sldId id="2147482390"/>
            <p14:sldId id="2147469827"/>
            <p14:sldId id="2147482405"/>
          </p14:sldIdLst>
        </p14:section>
        <p14:section name="Interlocuteurs" id="{3144F622-73C6-47CD-8980-C0E38E798F26}">
          <p14:sldIdLst>
            <p14:sldId id="2147469839"/>
            <p14:sldId id="2147469838"/>
          </p14:sldIdLst>
        </p14:section>
        <p14:section name="Périmètre" id="{5D64E7E8-901A-4276-9EDC-741F8E9E886E}">
          <p14:sldIdLst>
            <p14:sldId id="2147469840"/>
            <p14:sldId id="2147482400"/>
            <p14:sldId id="2147482396"/>
            <p14:sldId id="2147469841"/>
            <p14:sldId id="2147482393"/>
          </p14:sldIdLst>
        </p14:section>
        <p14:section name="Démarrage Projet" id="{FAB4BA61-07A4-43EB-A7FF-687B473B0360}">
          <p14:sldIdLst>
            <p14:sldId id="2147469835"/>
            <p14:sldId id="2147482305"/>
            <p14:sldId id="2147482386"/>
            <p14:sldId id="2147482388"/>
            <p14:sldId id="2147482401"/>
            <p14:sldId id="2147482402"/>
            <p14:sldId id="2147482392"/>
            <p14:sldId id="2147469837"/>
            <p14:sldId id="2147482394"/>
            <p14:sldId id="2147482397"/>
            <p14:sldId id="2147482383"/>
            <p14:sldId id="2147482406"/>
          </p14:sldIdLst>
        </p14:section>
        <p14:section name="Marketing" id="{058FC5D8-3EDC-4324-96C6-2A681EE21A8C}">
          <p14:sldIdLst>
            <p14:sldId id="2147469834"/>
            <p14:sldId id="2147469825"/>
          </p14:sldIdLst>
        </p14:section>
        <p14:section name="Actions &amp; Check-list GO Projet" id="{A62D31D9-A834-4ADE-9E7D-9E7953178BF3}">
          <p14:sldIdLst>
            <p14:sldId id="2147482389"/>
            <p14:sldId id="2147469823"/>
            <p14:sldId id="2147482407"/>
            <p14:sldId id="2147482404"/>
            <p14:sldId id="21474824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00897B"/>
    <a:srgbClr val="1D6E9B"/>
    <a:srgbClr val="FFF2D3"/>
    <a:srgbClr val="BFBFBF"/>
    <a:srgbClr val="85CA46"/>
    <a:srgbClr val="8976C4"/>
    <a:srgbClr val="CF423F"/>
    <a:srgbClr val="4F8EB1"/>
    <a:srgbClr val="FC8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182098-5E30-42C8-8E77-AA02ACB5FAFA}">
  <a:tblStyle styleId="{36182098-5E30-42C8-8E77-AA02ACB5FA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28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éline GUIHOU" userId="72f5b96f-b03b-4249-9f54-018bdae0450c" providerId="ADAL" clId="{D9881549-E11E-4144-B41B-4AEB63281091}"/>
    <pc:docChg chg="undo redo custSel addSld delSld modSld sldOrd delMainMaster addSection delSection modSection">
      <pc:chgData name="Céline GUIHOU" userId="72f5b96f-b03b-4249-9f54-018bdae0450c" providerId="ADAL" clId="{D9881549-E11E-4144-B41B-4AEB63281091}" dt="2026-06-09T09:18:09.640" v="18609" actId="1036"/>
      <pc:docMkLst>
        <pc:docMk/>
      </pc:docMkLst>
      <pc:sldChg chg="modSp mod">
        <pc:chgData name="Céline GUIHOU" userId="72f5b96f-b03b-4249-9f54-018bdae0450c" providerId="ADAL" clId="{D9881549-E11E-4144-B41B-4AEB63281091}" dt="2026-06-09T09:18:09.640" v="18609" actId="1036"/>
        <pc:sldMkLst>
          <pc:docMk/>
          <pc:sldMk cId="171888888" sldId="2147482397"/>
        </pc:sldMkLst>
        <pc:spChg chg="mod">
          <ac:chgData name="Céline GUIHOU" userId="72f5b96f-b03b-4249-9f54-018bdae0450c" providerId="ADAL" clId="{D9881549-E11E-4144-B41B-4AEB63281091}" dt="2026-06-09T09:18:09.640" v="18609" actId="1036"/>
          <ac:spMkLst>
            <pc:docMk/>
            <pc:sldMk cId="171888888" sldId="2147482397"/>
            <ac:spMk id="6" creationId="{726B7EBA-8DF8-A096-5D6B-8E7FF52467E8}"/>
          </ac:spMkLst>
        </pc:spChg>
      </pc:sldChg>
      <pc:sldChg chg="addSp delSp modSp mod">
        <pc:chgData name="Céline GUIHOU" userId="72f5b96f-b03b-4249-9f54-018bdae0450c" providerId="ADAL" clId="{D9881549-E11E-4144-B41B-4AEB63281091}" dt="2026-05-14T16:02:24.770" v="18604" actId="20577"/>
        <pc:sldMkLst>
          <pc:docMk/>
          <pc:sldMk cId="2893164313" sldId="2147482410"/>
        </pc:sldMkLst>
        <pc:spChg chg="add mod">
          <ac:chgData name="Céline GUIHOU" userId="72f5b96f-b03b-4249-9f54-018bdae0450c" providerId="ADAL" clId="{D9881549-E11E-4144-B41B-4AEB63281091}" dt="2026-05-14T16:02:16.248" v="18601" actId="404"/>
          <ac:spMkLst>
            <pc:docMk/>
            <pc:sldMk cId="2893164313" sldId="2147482410"/>
            <ac:spMk id="6" creationId="{6BD4D78E-74BE-A48D-92DB-D5A8ADA46EB3}"/>
          </ac:spMkLst>
        </pc:spChg>
        <pc:spChg chg="mod">
          <ac:chgData name="Céline GUIHOU" userId="72f5b96f-b03b-4249-9f54-018bdae0450c" providerId="ADAL" clId="{D9881549-E11E-4144-B41B-4AEB63281091}" dt="2026-05-14T16:02:24.770" v="18604" actId="20577"/>
          <ac:spMkLst>
            <pc:docMk/>
            <pc:sldMk cId="2893164313" sldId="2147482410"/>
            <ac:spMk id="8" creationId="{780028FE-3391-A050-151C-880A881949C5}"/>
          </ac:spMkLst>
        </pc:spChg>
        <pc:picChg chg="add mod">
          <ac:chgData name="Céline GUIHOU" userId="72f5b96f-b03b-4249-9f54-018bdae0450c" providerId="ADAL" clId="{D9881549-E11E-4144-B41B-4AEB63281091}" dt="2026-05-14T16:01:38.372" v="18580" actId="1076"/>
          <ac:picMkLst>
            <pc:docMk/>
            <pc:sldMk cId="2893164313" sldId="2147482410"/>
            <ac:picMk id="3" creationId="{2FD3436E-0962-8521-56CD-A91CD3AF6A4E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637B0D0-10DC-8235-A98B-F5F129E6D1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8C1CFA-9391-E0BA-6AA3-4D7609C2B0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A4C09-EC11-4B3D-8FC8-9DEC86E601CA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187C44-45CB-50AB-D241-C836AF88D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1582F-81EC-5520-1FF0-CCAB943802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CAA5E-D1A1-4C0D-B264-0AA16402F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20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85800"/>
            <a:ext cx="6127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Verdict calculé à partir de la check-list GO et des contrôles de cohérence. La réunion décide.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Reporter ici le plan de charges GEPIL (onglet Tableau des ressources) : capture à insérer à la main.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Rappel Support : ne pas toper en « Comm. Incident » tant que la production n'est pas ouverte. Les échéances sont à fixer en séance.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7BF4BF1-7362-89B3-5903-45CD62EE2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892" y="2538228"/>
            <a:ext cx="5220677" cy="178154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67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CD04501D-B155-FEC8-4DD8-4F26496CC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2892" y="1356970"/>
            <a:ext cx="5220677" cy="109857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6"/>
                </a:solidFill>
                <a:latin typeface="Montserrat Medium" panose="00000600000000000000" pitchFamily="2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D6BE347D-5294-DD63-6DB7-E0599783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17" y="6051542"/>
            <a:ext cx="2211753" cy="487134"/>
          </a:xfrm>
        </p:spPr>
        <p:txBody>
          <a:bodyPr/>
          <a:lstStyle/>
          <a:p>
            <a:fld id="{0A21C1CE-2FC8-4FDC-9D09-80CD461981CE}" type="datetimeFigureOut">
              <a:rPr lang="fr-FR" smtClean="0"/>
              <a:t>09/06/2026</a:t>
            </a:fld>
            <a:endParaRPr lang="fr-FR"/>
          </a:p>
        </p:txBody>
      </p:sp>
      <p:pic>
        <p:nvPicPr>
          <p:cNvPr id="10" name="Image 9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4D220ED9-E8FC-7E2C-0F83-08D0644260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1232" y="5750448"/>
            <a:ext cx="2516553" cy="79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1952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Contenu hierarchi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2DD2086-F697-20E7-8CBD-C7B0AA016C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  <p:sp>
        <p:nvSpPr>
          <p:cNvPr id="10" name="Espace réservé du texte 29">
            <a:extLst>
              <a:ext uri="{FF2B5EF4-FFF2-40B4-BE49-F238E27FC236}">
                <a16:creationId xmlns:a16="http://schemas.microsoft.com/office/drawing/2014/main" id="{1572CB80-492D-D14B-8428-D4668E55D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710" y="3839345"/>
            <a:ext cx="11015578" cy="430212"/>
          </a:xfrm>
          <a:prstGeom prst="rect">
            <a:avLst/>
          </a:prstGeom>
        </p:spPr>
        <p:txBody>
          <a:bodyPr/>
          <a:lstStyle>
            <a:lvl2pPr marL="0" indent="0">
              <a:buFont typeface="Arial" panose="020B0604020202020204" pitchFamily="34" charset="0"/>
              <a:buNone/>
              <a:defRPr lang="fr-FR" sz="2400" b="0" i="0" u="none" strike="noStrike" kern="1200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tabLst/>
            </a:pPr>
            <a:r>
              <a:rPr lang="fr-FR"/>
              <a:t>Idée 2</a:t>
            </a:r>
          </a:p>
        </p:txBody>
      </p:sp>
      <p:sp>
        <p:nvSpPr>
          <p:cNvPr id="7" name="Espace réservé du texte 29">
            <a:extLst>
              <a:ext uri="{FF2B5EF4-FFF2-40B4-BE49-F238E27FC236}">
                <a16:creationId xmlns:a16="http://schemas.microsoft.com/office/drawing/2014/main" id="{D3D69868-5B84-0EDA-DACF-A3AD690029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710" y="4341181"/>
            <a:ext cx="11015578" cy="1873188"/>
          </a:xfrm>
          <a:prstGeom prst="rect">
            <a:avLst/>
          </a:prstGeom>
        </p:spPr>
        <p:txBody>
          <a:bodyPr>
            <a:noAutofit/>
          </a:bodyPr>
          <a:lstStyle>
            <a:lvl2pPr marL="285750" indent="-285750">
              <a:buFont typeface="Arial" panose="020B0604020202020204" pitchFamily="34" charset="0"/>
              <a:buChar char="•"/>
              <a:defRPr lang="fr-FR" sz="2000" b="1" i="0" u="none" strike="noStrike" kern="1200" cap="none" dirty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08038" indent="-266700"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  <a:latin typeface="Montserrat" panose="00000500000000000000" pitchFamily="2" charset="0"/>
              </a:defRPr>
            </a:lvl3pPr>
            <a:lvl4pPr marL="1252538" indent="-355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Montserrat" panose="00000500000000000000" pitchFamily="2" charset="0"/>
              </a:defRPr>
            </a:lvl4pPr>
            <a:lvl5pPr marL="1074738" indent="-177800">
              <a:spcBef>
                <a:spcPts val="600"/>
              </a:spcBef>
              <a:spcAft>
                <a:spcPts val="600"/>
              </a:spcAft>
              <a:defRPr sz="1200"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marL="342900" marR="0" lvl="1" indent="-34290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2"/>
            <a:endParaRPr lang="fr-FR"/>
          </a:p>
          <a:p>
            <a:pPr lvl="2"/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BAEDD24-D120-E7C1-3ED7-1BDE5A5A42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10" y="1775534"/>
            <a:ext cx="11015578" cy="1810579"/>
          </a:xfrm>
          <a:prstGeom prst="rect">
            <a:avLst/>
          </a:prstGeom>
        </p:spPr>
        <p:txBody>
          <a:bodyPr>
            <a:noAutofit/>
          </a:bodyPr>
          <a:lstStyle>
            <a:lvl2pPr marL="342900" marR="0" indent="-342900" algn="l" defTabSz="909461" rtl="0" eaLnBrk="1" latinLnBrk="0" hangingPunct="1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defRPr lang="fr-FR" sz="2000" b="1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84238" marR="0" indent="-34290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800" b="0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3pPr>
            <a:lvl4pPr marR="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600" b="0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4pPr>
          </a:lstStyle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4"/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A3A4E4-45F4-4A81-5C10-9F029C75FE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750" y="1216025"/>
            <a:ext cx="11015663" cy="46196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 lang="fr-FR" sz="2400" b="0" i="0" u="none" strike="noStrike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Idée 1</a:t>
            </a:r>
          </a:p>
        </p:txBody>
      </p:sp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D2759BA-106C-5459-5C29-2309822F7D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6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Contenu Simpl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8880F94-C277-1DFA-291A-C47B0BAD7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A3A4E4-45F4-4A81-5C10-9F029C75FE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750" y="1216025"/>
            <a:ext cx="11015663" cy="46196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 lang="fr-FR" sz="2400" b="0" i="0" u="none" strike="noStrike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Idée 1</a:t>
            </a: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5EB06AEC-7823-A96C-6538-905E6D82D1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10" y="1935214"/>
            <a:ext cx="11015578" cy="4478901"/>
          </a:xfrm>
          <a:prstGeom prst="rect">
            <a:avLst/>
          </a:prstGeom>
        </p:spPr>
        <p:txBody>
          <a:bodyPr/>
          <a:lstStyle>
            <a:lvl2pPr marL="342900" marR="0" indent="-342900" algn="l" defTabSz="909461" rtl="0" eaLnBrk="1" latinLnBrk="0" hangingPunct="1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defRPr lang="fr-FR" sz="2000" b="1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84238" marR="0" indent="-34290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800" b="0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3pPr>
            <a:lvl4pPr marR="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600" b="0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4pPr>
          </a:lstStyle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4"/>
            <a:endParaRPr lang="fr-FR"/>
          </a:p>
        </p:txBody>
      </p:sp>
      <p:pic>
        <p:nvPicPr>
          <p:cNvPr id="9" name="Image 8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A3D1FB0C-4187-49D2-A71D-E13D83FBAC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7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7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2BE64E9-9BAA-04FB-9753-FFF16CBBA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8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059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D3A5B2B-0C50-B833-29D5-2200305DA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2BE64E9-9BAA-04FB-9753-FFF16CBBAE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6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1DCD277-91C3-5279-5130-B80C09C68A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CA200C7-68FB-A544-81F8-D3C99973CF1B}"/>
              </a:ext>
            </a:extLst>
          </p:cNvPr>
          <p:cNvSpPr txBox="1"/>
          <p:nvPr userDrawn="1"/>
        </p:nvSpPr>
        <p:spPr>
          <a:xfrm>
            <a:off x="3131010" y="3236268"/>
            <a:ext cx="6094378" cy="119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161" spc="104">
                <a:solidFill>
                  <a:schemeClr val="accent6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MERCI ! </a:t>
            </a:r>
            <a:endParaRPr lang="fr-FR" sz="7161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Picture 24">
            <a:extLst>
              <a:ext uri="{FF2B5EF4-FFF2-40B4-BE49-F238E27FC236}">
                <a16:creationId xmlns:a16="http://schemas.microsoft.com/office/drawing/2014/main" id="{70F98015-DDDB-FD47-A227-20DFD901F5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932924" y="4493366"/>
            <a:ext cx="1604211" cy="152400"/>
          </a:xfrm>
          <a:prstGeom prst="rect">
            <a:avLst/>
          </a:prstGeom>
        </p:spPr>
      </p:pic>
      <p:pic>
        <p:nvPicPr>
          <p:cNvPr id="2" name="Image 1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DA7D387C-E7AF-DE03-9EE5-38C4AED233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7540" y="6376514"/>
            <a:ext cx="1163125" cy="3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3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-ver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6E9B97-6A05-4C4D-A51E-19E60D715B2A}"/>
              </a:ext>
            </a:extLst>
          </p:cNvPr>
          <p:cNvSpPr/>
          <p:nvPr userDrawn="1"/>
        </p:nvSpPr>
        <p:spPr>
          <a:xfrm>
            <a:off x="-233644" y="1"/>
            <a:ext cx="12425645" cy="6858000"/>
          </a:xfrm>
          <a:prstGeom prst="rect">
            <a:avLst/>
          </a:prstGeom>
          <a:solidFill>
            <a:schemeClr val="accent6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86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218789-B327-F548-AE6C-37D35C8695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451" y="2789774"/>
            <a:ext cx="1268413" cy="1278453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627E451-FD0C-5049-9FE0-E2AC3CBC42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3277" y="3043236"/>
            <a:ext cx="8720137" cy="771525"/>
          </a:xfrm>
          <a:prstGeom prst="rect">
            <a:avLst/>
          </a:prstGeom>
        </p:spPr>
        <p:txBody>
          <a:bodyPr/>
          <a:lstStyle>
            <a:lvl1pPr>
              <a:defRPr sz="4973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lvl="0"/>
            <a:r>
              <a:rPr lang="fr-FR"/>
              <a:t>Titre de la </a:t>
            </a:r>
            <a:r>
              <a:rPr lang="fr-FR" err="1"/>
              <a:t>transistion</a:t>
            </a:r>
            <a:endParaRPr lang="fr-FR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42CE0AF9-8722-8F43-B803-FAD88E1A9A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578921">
            <a:off x="2196626" y="3370763"/>
            <a:ext cx="1278886" cy="1214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2EED484-2CF8-4A92-9038-90E2A313A6B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65490" y="6426029"/>
            <a:ext cx="920927" cy="2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18792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2E0678-5B09-8274-41A0-F4BCC3A8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1" y="1323191"/>
            <a:ext cx="10945009" cy="4843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Cliquez pour modifier les styles du texte du masque</a:t>
            </a:r>
          </a:p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fr-FR"/>
          </a:p>
          <a:p>
            <a:pPr marL="342900" marR="0" lvl="1" indent="-34290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Premier niveau</a:t>
            </a:r>
          </a:p>
          <a:p>
            <a:pPr lvl="2"/>
            <a:r>
              <a:rPr lang="fr-FR"/>
              <a:t>Second niveau</a:t>
            </a:r>
          </a:p>
          <a:p>
            <a:pPr lvl="3"/>
            <a:r>
              <a:rPr lang="fr-FR"/>
              <a:t>Troisième niveau</a:t>
            </a:r>
          </a:p>
        </p:txBody>
      </p:sp>
      <p:sp>
        <p:nvSpPr>
          <p:cNvPr id="7" name="Espace réservé du titre 6">
            <a:extLst>
              <a:ext uri="{FF2B5EF4-FFF2-40B4-BE49-F238E27FC236}">
                <a16:creationId xmlns:a16="http://schemas.microsoft.com/office/drawing/2014/main" id="{F2CF7FBF-3E9C-4D6C-807D-D6DF662C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91" y="365126"/>
            <a:ext cx="10945009" cy="796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F22AD14-9137-A5D0-745D-DCA2AC797884}"/>
              </a:ext>
            </a:extLst>
          </p:cNvPr>
          <p:cNvSpPr txBox="1"/>
          <p:nvPr userDrawn="1"/>
        </p:nvSpPr>
        <p:spPr>
          <a:xfrm>
            <a:off x="27197" y="6543430"/>
            <a:ext cx="391454" cy="2300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1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7C34942-2C05-42E1-85B2-9B2415C4A4D2}" type="slidenum">
              <a:rPr kumimoji="0" lang="en-GB" sz="895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681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‹N°›</a:t>
            </a:fld>
            <a:endParaRPr kumimoji="0" lang="en-GB" sz="8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760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06" r:id="rId2"/>
    <p:sldLayoutId id="2147483743" r:id="rId3"/>
    <p:sldLayoutId id="2147483748" r:id="rId4"/>
    <p:sldLayoutId id="2147483746" r:id="rId5"/>
    <p:sldLayoutId id="2147483747" r:id="rId6"/>
    <p:sldLayoutId id="2147483744" r:id="rId7"/>
    <p:sldLayoutId id="2147483739" r:id="rId8"/>
    <p:sldLayoutId id="2147483749" r:id="rId9"/>
  </p:sldLayoutIdLst>
  <p:hf hdr="0" ftr="0" dt="0"/>
  <p:txStyles>
    <p:titleStyle>
      <a:lvl1pPr algn="l" defTabSz="909461" rtl="0" eaLnBrk="1" latinLnBrk="0" hangingPunct="1">
        <a:lnSpc>
          <a:spcPct val="90000"/>
        </a:lnSpc>
        <a:spcBef>
          <a:spcPct val="0"/>
        </a:spcBef>
        <a:buNone/>
        <a:defRPr sz="2387" b="1" kern="1200">
          <a:solidFill>
            <a:schemeClr val="tx2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909461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None/>
        <a:defRPr sz="2785" kern="1200">
          <a:solidFill>
            <a:srgbClr val="FD7F01"/>
          </a:solidFill>
          <a:latin typeface="Montserrat" pitchFamily="2" charset="77"/>
          <a:ea typeface="+mn-ea"/>
          <a:cs typeface="+mn-cs"/>
        </a:defRPr>
      </a:lvl1pPr>
      <a:lvl2pPr marL="177800" indent="-177800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tabLst/>
        <a:defRPr lang="fr-FR" sz="1600" b="0" i="0" u="none" strike="noStrike" kern="1200" cap="none" dirty="0">
          <a:solidFill>
            <a:srgbClr val="FD7F01"/>
          </a:solidFill>
          <a:latin typeface="Montserrat" panose="00000500000000000000" pitchFamily="2" charset="0"/>
          <a:ea typeface="+mn-ea"/>
          <a:cs typeface="Aharoni" pitchFamily="2" charset="-79"/>
          <a:sym typeface="Arial"/>
        </a:defRPr>
      </a:lvl2pPr>
      <a:lvl3pPr marL="541338" indent="-185738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rgbClr val="229FBC"/>
        </a:buClr>
        <a:buFont typeface="Police système Courant"/>
        <a:buChar char="-"/>
        <a:tabLst>
          <a:tab pos="719138" algn="l"/>
          <a:tab pos="1252538" algn="l"/>
        </a:tabLst>
        <a:defRPr sz="1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985838" indent="-138113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487888" indent="0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None/>
        <a:tabLst/>
        <a:defRPr sz="1790" kern="1200">
          <a:solidFill>
            <a:srgbClr val="229FBC"/>
          </a:solidFill>
          <a:latin typeface="Modern Love Caps" pitchFamily="82" charset="0"/>
          <a:ea typeface="+mn-ea"/>
          <a:cs typeface="+mn-cs"/>
        </a:defRPr>
      </a:lvl5pPr>
      <a:lvl6pPr marL="250101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95574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41047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865210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1pPr>
      <a:lvl2pPr marL="454731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2pPr>
      <a:lvl3pPr marL="909461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3pPr>
      <a:lvl4pPr marL="1364192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4pPr>
      <a:lvl5pPr marL="1818923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5pPr>
      <a:lvl6pPr marL="2273653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728384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183114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637845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Transition de la DC vers la DSC</a:t>
            </a:r>
          </a:p>
          <a:p>
            <a:r>
              <a:rPr sz="2200" b="0" i="0">
                <a:solidFill>
                  <a:srgbClr val="5F6B73"/>
                </a:solidFill>
                <a:latin typeface="Montserrat"/>
              </a:rPr>
              <a:t>19/10/2026 – Version 1.0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Réunion kick-off interne TSF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" y="4752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897B"/>
                </a:solidFill>
                <a:latin typeface="Montserrat SemiBold"/>
              </a:rPr>
              <a:t>Pour Client 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000" y="6228000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Document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passation en une page</a:t>
            </a:r>
          </a:p>
        </p:txBody>
      </p:sp>
      <p:sp>
        <p:nvSpPr>
          <p:cNvPr id="3" name="Oval 2"/>
          <p:cNvSpPr/>
          <p:nvPr/>
        </p:nvSpPr>
        <p:spPr>
          <a:xfrm>
            <a:off x="342000" y="1296000"/>
            <a:ext cx="503999" cy="503999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000" y="1260000"/>
            <a:ext cx="6228000" cy="11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F3F3F"/>
                </a:solidFill>
                <a:latin typeface="Montserrat SemiBold"/>
              </a:rPr>
              <a:t>Offre Adapt : 40 utilisateurs, 36 jrsH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Lancement 05/11/2026 · ouverture visée 31/03/2027</a:t>
            </a:r>
          </a:p>
        </p:txBody>
      </p:sp>
      <p:sp>
        <p:nvSpPr>
          <p:cNvPr id="5" name="Oval 4"/>
          <p:cNvSpPr/>
          <p:nvPr/>
        </p:nvSpPr>
        <p:spPr>
          <a:xfrm>
            <a:off x="342000" y="2591999"/>
            <a:ext cx="503999" cy="503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000" y="2556000"/>
            <a:ext cx="6228000" cy="11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F3F3F"/>
                </a:solidFill>
                <a:latin typeface="Montserrat SemiBold"/>
              </a:rPr>
              <a:t>19 informations à réunir, dont 3 bloquantes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Le registre des manques liste chaque information, l'équipe qui la fournit et sa gravité.</a:t>
            </a:r>
          </a:p>
        </p:txBody>
      </p:sp>
      <p:sp>
        <p:nvSpPr>
          <p:cNvPr id="7" name="Oval 6"/>
          <p:cNvSpPr/>
          <p:nvPr/>
        </p:nvSpPr>
        <p:spPr>
          <a:xfrm>
            <a:off x="342000" y="3887999"/>
            <a:ext cx="503999" cy="503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000" y="3851999"/>
            <a:ext cx="6228000" cy="11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F3F3F"/>
                </a:solidFill>
                <a:latin typeface="Montserrat SemiBold"/>
              </a:rPr>
              <a:t>5 contrôles de cohérence à traiter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Licences, charges, échéancier, lignes GEPIL et consentements marketing croisés automatiquement.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6000" y="1260000"/>
            <a:ext cx="3311999" cy="3780000"/>
          </a:xfrm>
          <a:prstGeom prst="roundRect">
            <a:avLst>
              <a:gd name="adj" fmla="val 5000"/>
            </a:avLst>
          </a:prstGeom>
          <a:solidFill>
            <a:srgbClr val="E0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8000" y="1548000"/>
            <a:ext cx="2807999" cy="32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FFFFFF"/>
                </a:solidFill>
                <a:latin typeface="Montserrat SemiBold"/>
              </a:rPr>
              <a:t>VERDICT GO PROJET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Montserrat SemiBold"/>
              </a:rPr>
              <a:t>NO GO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Aucun bon de commande reçu : aucun jour ne doit être travaillé avant réception.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Check-list : « Bon de commande reçu » non validé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Check-list : « Périmètre clairement défini et priorisé » non validé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Préambule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10656000" cy="4896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10260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Objectifs du document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Transmettre de la DC vers la DSC, l'ADV, le Marketing et le Support les informations sur le client, son besoin et l'offre formalisée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Offre concernée : Adapt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Rédigé par le commercial (DC) et le CSM / DP ou le consultant (DSC)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À stocker dans « Clients - Projets » et à publier dans le canal Teams du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Participants à la réunion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3360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2964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Intervenants TSF lors du cycle de vente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DC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Commercial Triskell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AVV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Avant-vente Triskell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Consultant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90000" y="1260000"/>
            <a:ext cx="3360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70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8000" y="1458000"/>
            <a:ext cx="2964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Équipe en charge du projet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Consultant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Intégration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Mike et/ou Vincent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DP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Directeur de projet Triskell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8000" y="1260000"/>
            <a:ext cx="3360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000" y="1458000"/>
            <a:ext cx="2964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Autres invités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Direction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ADV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Isabelle P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Marketing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Lilian &amp; Isabelle M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CSM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Richard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Architecte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Arnaud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DSC / Support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Myriam &amp; Arielle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468000"/>
            <a:ext cx="720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 i="0">
                <a:solidFill>
                  <a:srgbClr val="FD7F01"/>
                </a:solidFill>
                <a:latin typeface="Montserrat ExtraBold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864000" y="2033999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2015999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Éléments de contexte</a:t>
            </a:r>
          </a:p>
        </p:txBody>
      </p:sp>
      <p:sp>
        <p:nvSpPr>
          <p:cNvPr id="5" name="Oval 4"/>
          <p:cNvSpPr/>
          <p:nvPr/>
        </p:nvSpPr>
        <p:spPr>
          <a:xfrm>
            <a:off x="864000" y="2591999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4000" y="2574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Interlocuteurs-clés côté client</a:t>
            </a:r>
          </a:p>
        </p:txBody>
      </p:sp>
      <p:sp>
        <p:nvSpPr>
          <p:cNvPr id="7" name="Oval 6"/>
          <p:cNvSpPr/>
          <p:nvPr/>
        </p:nvSpPr>
        <p:spPr>
          <a:xfrm>
            <a:off x="864000" y="3150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4000" y="3131999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Périmètre fonctionnel &amp; technique</a:t>
            </a:r>
          </a:p>
        </p:txBody>
      </p:sp>
      <p:sp>
        <p:nvSpPr>
          <p:cNvPr id="9" name="Oval 8"/>
          <p:cNvSpPr/>
          <p:nvPr/>
        </p:nvSpPr>
        <p:spPr>
          <a:xfrm>
            <a:off x="864000" y="3708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4000" y="3690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Démarrage du projet</a:t>
            </a:r>
          </a:p>
        </p:txBody>
      </p:sp>
      <p:sp>
        <p:nvSpPr>
          <p:cNvPr id="11" name="Oval 10"/>
          <p:cNvSpPr/>
          <p:nvPr/>
        </p:nvSpPr>
        <p:spPr>
          <a:xfrm>
            <a:off x="864000" y="4266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4000" y="4248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Éléments financiers</a:t>
            </a:r>
          </a:p>
        </p:txBody>
      </p:sp>
      <p:sp>
        <p:nvSpPr>
          <p:cNvPr id="13" name="Oval 12"/>
          <p:cNvSpPr/>
          <p:nvPr/>
        </p:nvSpPr>
        <p:spPr>
          <a:xfrm>
            <a:off x="864000" y="4824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4000" y="4806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Marketing &amp; Communication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64000" y="5382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4000" y="5364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Actions &amp; Check-list « GO Projet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0000" y="3240000"/>
            <a:ext cx="2232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D7F01"/>
                </a:solidFill>
                <a:latin typeface="Montserrat ExtraBold"/>
              </a:rPr>
              <a:t>Q&amp;A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1. Éléments de contexte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du client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Identité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Secteur d'activité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Industrie (exemple)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Activités / Offres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Fabrication de composants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Services de maintenance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Chiffres-clés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2 400 salariés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12 sites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Localisation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Lyon et Europe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2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Autres informations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Site web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Enjeux stratégiques / vision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Piloter 180 projets dans un référentiel unique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Éléments contextuels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Nouveau PMO créé en 2026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Autres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Contexte (1/2) : origine du lead et cycle de vente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Origine du lead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Date du lead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03/03/2026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Contexte du lead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Salon PPM, demande de démo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Cahier des charges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Oui, reçu le 15/04/2026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2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Le cycle de vente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Raisons du choix de Triskell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Gestion de la demande native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Accélérateur PPM Ready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Concurrence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Deux éditeurs PPM (non nommés)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Dates clés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Démo 12/05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Choix 30/09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Maquette / démo / gouvernance présentée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Maquette : Non · Démo : Oui · Gouvernance : Oui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Contexte (2/2) : ce que le client attend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3360000" cy="4896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2964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Objectifs &amp; enjeux du projet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Remplacer 14 fichiers Excel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Comité de portefeuille mensuel outillé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90000" y="1260000"/>
            <a:ext cx="3360000" cy="4896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70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8000" y="1458000"/>
            <a:ext cx="2964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Challenges du client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Adoption par 80 chefs de projet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Qualité des données budgétaires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8000" y="1260000"/>
            <a:ext cx="3360000" cy="4896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000" y="1458000"/>
            <a:ext cx="2964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Facteurs-clés de succès exprimés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Sponsor présent aux comités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Ouverture avant la clôture budgétaire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2. Interlocuteurs-clés côté client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 interlocuteurs-clés côté client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000" y="1260000"/>
          <a:ext cx="10656000" cy="43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2400"/>
                <a:gridCol w="6393600"/>
              </a:tblGrid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Rôle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Acteur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Direction Client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Directeur des opérations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Sponsor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Directeur PMO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Futur(e) administrateur(-trice) Solution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Équipe Projet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Responsable outils, 2 chefs de projet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DAF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Facturation &amp; Comptabilité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Achats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Juridique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3. Périmètre fonctionnel &amp; technique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Périmètre fonctionnel (1/3) : processus de pilotage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000" y="1260000"/>
          <a:ext cx="10655998" cy="47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8461"/>
                <a:gridCol w="1229538"/>
                <a:gridCol w="1229538"/>
                <a:gridCol w="4098461"/>
              </a:tblGrid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Processus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Inclus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Priorité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Précisions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Gestion de portefeuille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Oui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Gestion de la demande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Oui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Gestion de projet / programme / récurrent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Oui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Méthodologie Phase &amp; Gate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Gestion de ressources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Non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Gestion financière / budgétaire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Oui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Cycles budgétaires annuels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Saisie des temps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Non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Indicateurs, reportings &amp; tableaux de bord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Oui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Comitologies et décisions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Oui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716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Gestion des risques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Périmètre fonctionnel (2/3) : échanges client du 14/10/2026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Priorités et inputs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Priorités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Portefeuille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Tableaux de bord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Documents et inputs à prendre en compte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Cahier des charges v2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Modèle de fiche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2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Contraintes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Contraintes calendaires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Ouverture avant le 31/03/2027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Décommissionnement d'une solution existante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Oui · Arrêt de l'outil actuel fin T1 2027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Contrainte de mise en production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Périmètre (3/3) : licences, configuration et technique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Configuration des licences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Production (avec 1 admin) :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Sandbox :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Avancé :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4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Contributeur :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25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Lecture / Demandeur :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10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Flex :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0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Hébergeur :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OBS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POC licences : </a:t>
            </a:r>
            <a:r>
              <a:rPr sz="1500" b="0" i="1">
                <a:solidFill>
                  <a:srgbClr val="FD7F01"/>
                </a:solidFill>
                <a:latin typeface="Montserrat"/>
              </a:rPr>
              <a:t>[à compléter]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2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Aspects techniques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SSO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Mise en œuvre : Oui · Maintenance : ? · Nombre : 1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Intégrations ou interfaces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Import budgets depuis l'ERP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Import des temps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Implémentation, services et aspects contractuels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Contenu des prestations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Volume projet (implémentation)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36 jrsH · Forfait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Formation admin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1 session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Reprise de données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2 flux d'import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Pack Change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Pack Contextualisation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2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Aspects contractuels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Durée d'engagement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3 ans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Conditions de renouvellement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Tacite, révision SYNTEC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Contrat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Oui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Commande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4. Démarrage du projet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Démarrage projet : macro-planification évoquée avec le client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Macro-planification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Réunion de lancement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05/11/2026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Durée du projet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5 mois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Ouverture de service visée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31/03/2027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Gouvernance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COPIL mensuel, point projet hebdomadaire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Ateliers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Ateliers de 1h30 à 2h à caler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2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Points d'attention détectés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Lors de l'échange client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Disponibilité limitée du sponsor en décembre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Répartition des charges : 36 jrsH au total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000" y="1260000"/>
          <a:ext cx="10655998" cy="2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9142"/>
                <a:gridCol w="2283428"/>
                <a:gridCol w="2283428"/>
              </a:tblGrid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Poste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Charge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Facturable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Projet ADAPT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18 jrsH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F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Direction de projet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3 jrsH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F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Accompagnement prise en main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1 jrsH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NF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2 flux d'import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14 jrsH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F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5. Éléments financiers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Synthèse financière : licences et implémentation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000" y="1260000"/>
          <a:ext cx="10656000" cy="14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200"/>
                <a:gridCol w="2131200"/>
                <a:gridCol w="2131200"/>
                <a:gridCol w="2131200"/>
                <a:gridCol w="2131200"/>
              </a:tblGrid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Poste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6 mois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Année 1 (post 6 mois)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Année 2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Année 3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Licences pour 40 utilisateurs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9 000 € HT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22 000 € HT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22 000 € HT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22 000 € HT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Implémentation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25 000 € HT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2000" y="6138000"/>
            <a:ext cx="885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Source : proposition commerciale [référence à compléter]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Facturation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2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Licences et implémentation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Facturation des licences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À compter du 01/11/2026 · Par année à échoir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Échéancier de l'implémentation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50 % · Démarrage du projet · 12 500 € HT le 05/11/2026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50 % · Ouverture du service en production · 12 500 € HT le 31/03/2027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Termes de paiement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000" y="1260000"/>
            <a:ext cx="5184000" cy="493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00" y="1260000"/>
            <a:ext cx="79200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2000" y="1458000"/>
            <a:ext cx="4788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GEPIL et commande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Lignes à créer dans GEPIL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facturable « ? » : 35 jrsH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non facturable « Accompagnement prise en main » : 1 jrsH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Sous-traitance à un partenaire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Non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Réception du BDC</a:t>
            </a:r>
          </a:p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FD7F01"/>
                </a:solidFill>
                <a:latin typeface="Montserrat"/>
              </a:rPr>
              <a:t>[à compléter]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6. Marketing &amp; Communication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MKG : le client accepte-t-il de communiquer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000" y="1098000"/>
            <a:ext cx="92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B73"/>
                </a:solidFill>
                <a:latin typeface="Montserrat"/>
              </a:rPr>
              <a:t>Contact pour la référence : [à compléter]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1584000"/>
            <a:ext cx="6840000" cy="4189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Point de contrôle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82000" y="1584000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Oui / 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8000" y="1584000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Commentaire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2002909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Site web : logo dans la liste de clients</a:t>
            </a:r>
          </a:p>
        </p:txBody>
      </p:sp>
      <p:pic>
        <p:nvPicPr>
          <p:cNvPr id="8" name="Picture 7" descr="icone-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000" y="2059363"/>
            <a:ext cx="306000" cy="30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18000" y="2002909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270000" y="2403818"/>
            <a:ext cx="10800000" cy="41890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2421818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Site web : citation de l'interlocuteur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2000" y="2421818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8000" y="2421818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42000" y="2840727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Site web : news signature sur le blog et 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2000" y="2840727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8000" y="2840727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7" name="Rectangle 16"/>
          <p:cNvSpPr/>
          <p:nvPr/>
        </p:nvSpPr>
        <p:spPr>
          <a:xfrm>
            <a:off x="270000" y="3241636"/>
            <a:ext cx="10800000" cy="41890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000" y="3259636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Supports commerciaux : logo</a:t>
            </a:r>
          </a:p>
        </p:txBody>
      </p:sp>
      <p:pic>
        <p:nvPicPr>
          <p:cNvPr id="19" name="Picture 18" descr="icone-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000" y="3316090"/>
            <a:ext cx="306000" cy="30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18000" y="3259636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42000" y="3678545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Supports commerciaux : citation de l'interlocuteur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2000" y="3678545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8000" y="3678545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270000" y="4079454"/>
            <a:ext cx="10800000" cy="41890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000" y="4097454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Communiqué de presse (grand compte et gros projet)</a:t>
            </a:r>
          </a:p>
        </p:txBody>
      </p:sp>
      <p:pic>
        <p:nvPicPr>
          <p:cNvPr id="26" name="Picture 25" descr="icone-n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000" y="4153909"/>
            <a:ext cx="306000" cy="30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18000" y="4097454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42000" y="4516363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Fiche témoignage après mise en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2000" y="4516363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8000" y="4516363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31" name="Rectangle 30"/>
          <p:cNvSpPr/>
          <p:nvPr/>
        </p:nvSpPr>
        <p:spPr>
          <a:xfrm>
            <a:off x="270000" y="4917272"/>
            <a:ext cx="10800000" cy="41890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00" y="4935272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Témoignage 1to1 auprès de prospects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2000" y="4935272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8000" y="4935272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42000" y="5354181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Témoignage lors d'un événement clients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2000" y="5354181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8000" y="5354181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38" name="Rectangle 37"/>
          <p:cNvSpPr/>
          <p:nvPr/>
        </p:nvSpPr>
        <p:spPr>
          <a:xfrm>
            <a:off x="270000" y="5755090"/>
            <a:ext cx="10800000" cy="41890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000" y="5773090"/>
            <a:ext cx="6696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3F3F3F"/>
                </a:solidFill>
                <a:latin typeface="Montserrat"/>
              </a:rPr>
              <a:t>Témoignage lors d'un événement prospects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82000" y="5773090"/>
            <a:ext cx="864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8000" y="5773090"/>
            <a:ext cx="2880000" cy="4189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7. Actions &amp; Check-list « GO Projet 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Actions à mener en sortie du kick-off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000" y="1260000"/>
          <a:ext cx="10655999" cy="43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000"/>
                <a:gridCol w="5650909"/>
                <a:gridCol w="1776000"/>
                <a:gridCol w="1453090"/>
              </a:tblGrid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Équipe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Action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Porteur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Échéance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Support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Créer les instances client (sandbox et production)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Support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Support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Donner les accès à SKORAN et au Teams Triskell Club Utilisateurs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Support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Support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Envoyer le mail de bienvenue (copie ADV et CSM / DP) avec la présentation du Club Utilisateurs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Support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DC &amp; CSM (HubSpot)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Basculer les contacts en clients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DC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DC &amp; CSM (HubSpot)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Créer, rattacher et actualiser les contacts de la solution client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CSM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CSM / DP &amp; DC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Formaliser l'échéancier de facturation et le transmettre à l'ADV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CSM / DP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ADV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Créer la souscription et les lignes F et NF dans GEPIL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ADV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Marketing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Initier la fiche référence client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MKG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1">
                          <a:solidFill>
                            <a:srgbClr val="FD7F01"/>
                          </a:solidFill>
                          <a:latin typeface="Montserrat"/>
                        </a:rPr>
                        <a:t>[à compléter]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Check-list « GO Projet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000" y="1260000"/>
            <a:ext cx="6120000" cy="43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Point de contrôle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2000" y="12600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Oui / 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8000" y="12600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Porteur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3999" y="1260000"/>
            <a:ext cx="2880000" cy="43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Commentaire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16956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3F3F3F"/>
                </a:solidFill>
                <a:latin typeface="Montserrat"/>
              </a:rPr>
              <a:t>Équipe projet synchronisée avant le démarrage, dont avec l'avant-vente</a:t>
            </a:r>
          </a:p>
        </p:txBody>
      </p:sp>
      <p:pic>
        <p:nvPicPr>
          <p:cNvPr id="8" name="Picture 7" descr="icone-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00" y="1760400"/>
            <a:ext cx="306000" cy="30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98000" y="16956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3999" y="16956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270000" y="2113200"/>
            <a:ext cx="10800000" cy="435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000" y="21312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F3F3F"/>
                </a:solidFill>
                <a:latin typeface="Montserrat SemiBold"/>
              </a:rPr>
              <a:t>Périmètre clairement défini et priorisé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2000" y="21312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8000" y="21312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3999" y="21312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42000" y="25668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3F3F3F"/>
                </a:solidFill>
                <a:latin typeface="Montserrat"/>
              </a:rPr>
              <a:t>Planning prévisionnel créé dans GEPIL</a:t>
            </a:r>
          </a:p>
        </p:txBody>
      </p:sp>
      <p:pic>
        <p:nvPicPr>
          <p:cNvPr id="17" name="Picture 16" descr="icone-n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00" y="2631600"/>
            <a:ext cx="306000" cy="30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98000" y="25668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999" y="25668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Prévu le 22/10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" y="2984399"/>
            <a:ext cx="10800000" cy="435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000" y="30024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3F3F3F"/>
                </a:solidFill>
                <a:latin typeface="Montserrat"/>
              </a:rPr>
              <a:t>Plan de charge prévisionnel renseigné dans GEPIL</a:t>
            </a:r>
          </a:p>
        </p:txBody>
      </p:sp>
      <p:pic>
        <p:nvPicPr>
          <p:cNvPr id="22" name="Picture 21" descr="icone-n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00" y="3067200"/>
            <a:ext cx="306000" cy="306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98000" y="30024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3999" y="30024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342000" y="34380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3F3F3F"/>
                </a:solidFill>
                <a:latin typeface="Montserrat"/>
              </a:rPr>
              <a:t>Contacts clients créés dans HubSpot par le commercial</a:t>
            </a:r>
          </a:p>
        </p:txBody>
      </p:sp>
      <p:pic>
        <p:nvPicPr>
          <p:cNvPr id="26" name="Picture 25" descr="icone-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00" y="3502800"/>
            <a:ext cx="306000" cy="30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98000" y="34380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3999" y="34380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9" name="Rectangle 28"/>
          <p:cNvSpPr/>
          <p:nvPr/>
        </p:nvSpPr>
        <p:spPr>
          <a:xfrm>
            <a:off x="270000" y="3855599"/>
            <a:ext cx="10800000" cy="435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000" y="38736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3F3F3F"/>
                </a:solidFill>
                <a:latin typeface="Montserrat"/>
              </a:rPr>
              <a:t>Répertoire client créé dans « Clients Actifs » avec l'offre commerciale</a:t>
            </a:r>
          </a:p>
        </p:txBody>
      </p:sp>
      <p:pic>
        <p:nvPicPr>
          <p:cNvPr id="31" name="Picture 30" descr="icone-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00" y="3938400"/>
            <a:ext cx="306000" cy="306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98000" y="38736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DSC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3999" y="38736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342000" y="43092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F3F3F"/>
                </a:solidFill>
                <a:latin typeface="Montserrat SemiBold"/>
              </a:rPr>
              <a:t>Contrat signé</a:t>
            </a:r>
          </a:p>
        </p:txBody>
      </p:sp>
      <p:pic>
        <p:nvPicPr>
          <p:cNvPr id="35" name="Picture 34" descr="icone-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00" y="4373999"/>
            <a:ext cx="306000" cy="30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98000" y="43092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3999" y="43092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38" name="Rectangle 37"/>
          <p:cNvSpPr/>
          <p:nvPr/>
        </p:nvSpPr>
        <p:spPr>
          <a:xfrm>
            <a:off x="270000" y="4726800"/>
            <a:ext cx="10800000" cy="435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000" y="47448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F3F3F"/>
                </a:solidFill>
                <a:latin typeface="Montserrat SemiBold"/>
              </a:rPr>
              <a:t>Bon de commande reçu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2000" y="47448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98000" y="47448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ADV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3999" y="47448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342000" y="5180400"/>
            <a:ext cx="5976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3F3F3F"/>
                </a:solidFill>
                <a:latin typeface="Montserrat"/>
              </a:rPr>
              <a:t>Toutes les informations nécessaires sont connues et à disposition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2000" y="51804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98000" y="5180400"/>
            <a:ext cx="8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DSC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3999" y="5180400"/>
            <a:ext cx="2664000" cy="43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47" name="Rounded Rectangle 46"/>
          <p:cNvSpPr/>
          <p:nvPr/>
        </p:nvSpPr>
        <p:spPr>
          <a:xfrm>
            <a:off x="342000" y="5760000"/>
            <a:ext cx="9360000" cy="503999"/>
          </a:xfrm>
          <a:prstGeom prst="roundRect">
            <a:avLst>
              <a:gd name="adj" fmla="val 6000"/>
            </a:avLst>
          </a:prstGeom>
          <a:solidFill>
            <a:srgbClr val="E0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l">
              <a:spcAft>
                <a:spcPts val="400"/>
              </a:spcAft>
            </a:pPr>
            <a:r>
              <a:rPr sz="1229" b="1" i="0">
                <a:solidFill>
                  <a:srgbClr val="FFFFFF"/>
                </a:solidFill>
                <a:latin typeface="Montserrat SemiBold"/>
              </a:rPr>
              <a:t>Verdict : NO GO  ·  4 oui · 2 non · 3 à vérifier  ·  bloquant : Périmètre clairement défini et priorisé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Conception personnalisée">
  <a:themeElements>
    <a:clrScheme name="TSF 2023">
      <a:dk1>
        <a:srgbClr val="FC8B00"/>
      </a:dk1>
      <a:lt1>
        <a:srgbClr val="FFFFFF"/>
      </a:lt1>
      <a:dk2>
        <a:srgbClr val="3F3F3F"/>
      </a:dk2>
      <a:lt2>
        <a:srgbClr val="F2F2F2"/>
      </a:lt2>
      <a:accent1>
        <a:srgbClr val="E66C08"/>
      </a:accent1>
      <a:accent2>
        <a:srgbClr val="FC8B00"/>
      </a:accent2>
      <a:accent3>
        <a:srgbClr val="FFC127"/>
      </a:accent3>
      <a:accent4>
        <a:srgbClr val="E6F5F3"/>
      </a:accent4>
      <a:accent5>
        <a:srgbClr val="4DB6AC"/>
      </a:accent5>
      <a:accent6>
        <a:srgbClr val="00897B"/>
      </a:accent6>
      <a:hlink>
        <a:srgbClr val="1155CC"/>
      </a:hlink>
      <a:folHlink>
        <a:srgbClr val="FC8B00"/>
      </a:folHlink>
    </a:clrScheme>
    <a:fontScheme name="TSF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e87ddd-1965-4434-b375-78d8ba310662">
      <Terms xmlns="http://schemas.microsoft.com/office/infopath/2007/PartnerControls"/>
    </lcf76f155ced4ddcb4097134ff3c332f>
    <TaxCatchAll xmlns="8b379bb0-b64f-4c40-a28d-6eedbeec02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8389F853A2D4C808A54B181D22240" ma:contentTypeVersion="11" ma:contentTypeDescription="Create a new document." ma:contentTypeScope="" ma:versionID="75491026da3992e01105bf8f02669a38">
  <xsd:schema xmlns:xsd="http://www.w3.org/2001/XMLSchema" xmlns:xs="http://www.w3.org/2001/XMLSchema" xmlns:p="http://schemas.microsoft.com/office/2006/metadata/properties" xmlns:ns2="bee87ddd-1965-4434-b375-78d8ba310662" xmlns:ns3="8b379bb0-b64f-4c40-a28d-6eedbeec024c" targetNamespace="http://schemas.microsoft.com/office/2006/metadata/properties" ma:root="true" ma:fieldsID="b99c8e9aa937e6132e943c4cc89f3feb" ns2:_="" ns3:_="">
    <xsd:import namespace="bee87ddd-1965-4434-b375-78d8ba310662"/>
    <xsd:import namespace="8b379bb0-b64f-4c40-a28d-6eedbeec02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e87ddd-1965-4434-b375-78d8ba3106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c391405-6ef0-418d-9473-03ba94dcf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79bb0-b64f-4c40-a28d-6eedbeec024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a278d91-1346-4597-b21f-5d44c184eb51}" ma:internalName="TaxCatchAll" ma:showField="CatchAllData" ma:web="8b379bb0-b64f-4c40-a28d-6eedbeec02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13075F-BF36-4913-BC97-113B6E93F4E5}">
  <ds:schemaRefs>
    <ds:schemaRef ds:uri="6930a3a8-6a7c-4999-8ded-608c83ac8722"/>
    <ds:schemaRef ds:uri="a6005d0a-c365-4ed3-a966-415884f5eb4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2578b5e-4a58-4773-b99e-6be304b5d6e7"/>
    <ds:schemaRef ds:uri="6d861d32-871f-444c-b12b-4718fd34f955"/>
    <ds:schemaRef ds:uri="bee87ddd-1965-4434-b375-78d8ba310662"/>
    <ds:schemaRef ds:uri="8b379bb0-b64f-4c40-a28d-6eedbeec024c"/>
  </ds:schemaRefs>
</ds:datastoreItem>
</file>

<file path=customXml/itemProps2.xml><?xml version="1.0" encoding="utf-8"?>
<ds:datastoreItem xmlns:ds="http://schemas.openxmlformats.org/officeDocument/2006/customXml" ds:itemID="{64D4EE80-2BD6-4E4E-B8C8-97C8874E4A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2F03DD-8905-4997-8AB9-F45D9CDC079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1523</TotalTime>
  <Words>1725</Words>
  <Application>Microsoft Office PowerPoint</Application>
  <PresentationFormat>Grand écran</PresentationFormat>
  <Paragraphs>419</Paragraphs>
  <Slides>34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5" baseType="lpstr">
      <vt:lpstr>Aharoni</vt:lpstr>
      <vt:lpstr>Arial</vt:lpstr>
      <vt:lpstr>Modern Love Caps</vt:lpstr>
      <vt:lpstr>Montserrat</vt:lpstr>
      <vt:lpstr>Montserrat  </vt:lpstr>
      <vt:lpstr>Montserrat ExtraBold</vt:lpstr>
      <vt:lpstr>Montserrat Medium</vt:lpstr>
      <vt:lpstr>Plus Jakarta Sans</vt:lpstr>
      <vt:lpstr>Police système Courant</vt:lpstr>
      <vt:lpstr>Ubuntu</vt:lpstr>
      <vt:lpstr>1_Conception personnalisée</vt:lpstr>
      <vt:lpstr>Transition de la DC vers la DSC  [date – Version x.x]  </vt:lpstr>
      <vt:lpstr>Préambule</vt:lpstr>
      <vt:lpstr>Participants à la réunion</vt:lpstr>
      <vt:lpstr>Présentation PowerPoint</vt:lpstr>
      <vt:lpstr>Présentation PowerPoint</vt:lpstr>
      <vt:lpstr>Présentation du client</vt:lpstr>
      <vt:lpstr>Contexte (1/2) </vt:lpstr>
      <vt:lpstr>Contexte (2/2) </vt:lpstr>
      <vt:lpstr>Présentation PowerPoint</vt:lpstr>
      <vt:lpstr>Les interlocuteurs-clés côté Client</vt:lpstr>
      <vt:lpstr>Présentation PowerPoint</vt:lpstr>
      <vt:lpstr>Périmètre fonctionnel (1/2)</vt:lpstr>
      <vt:lpstr>Périmètre fonctionnel (2/2) : Echanges Client du xx/xx/xx</vt:lpstr>
      <vt:lpstr>Licences - Configuration &amp; aspects techniques</vt:lpstr>
      <vt:lpstr>Implémentation, Services &amp; Aspects contractuels</vt:lpstr>
      <vt:lpstr>Présentation PowerPoint</vt:lpstr>
      <vt:lpstr>Cadencement de l’implémentation</vt:lpstr>
      <vt:lpstr>Démarrage projet</vt:lpstr>
      <vt:lpstr>Planning prévisionnel (1/3)</vt:lpstr>
      <vt:lpstr>Planning prévisionnel (2/3)</vt:lpstr>
      <vt:lpstr>Planning prévisionnel (3/3)</vt:lpstr>
      <vt:lpstr>Répartition des charges</vt:lpstr>
      <vt:lpstr>Présentation PowerPoint</vt:lpstr>
      <vt:lpstr>Chiffrage - Licences </vt:lpstr>
      <vt:lpstr>Chiffrage - Implémentation </vt:lpstr>
      <vt:lpstr>Présentation PowerPoint</vt:lpstr>
      <vt:lpstr>Facturation</vt:lpstr>
      <vt:lpstr>Présentation PowerPoint</vt:lpstr>
      <vt:lpstr>MKG – Le client accepte-il de communiquer ? </vt:lpstr>
      <vt:lpstr>Présentation PowerPoint</vt:lpstr>
      <vt:lpstr>Actions à mener en sortie du kick-off interne TSF (1/2)</vt:lpstr>
      <vt:lpstr>Actions à mener en sortie du kick-off Client (2/2)</vt:lpstr>
      <vt:lpstr>Eléments de check-list « GO Projet »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Kickoff interne TSF - Client Alpha</dc:title>
  <dc:creator>Triskell Software France</dc:creator>
  <cp:lastModifiedBy>Céline GUIHOU</cp:lastModifiedBy>
  <cp:revision>1</cp:revision>
  <dcterms:modified xsi:type="dcterms:W3CDTF">2026-06-09T09:18:14Z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0x01010028F8389F853A2D4C808A54B181D22240</vt:lpwstr>
  </property>
  <property fmtid="{D5CDD505-2E9C-101B-9397-08002B2CF9AE}" pid="3" name="Order">
    <vt:r8>2018600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TemplateUrl">
    <vt:lpwstr/>
  </property>
</Properties>
</file>