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41" r:id="rId4"/>
  </p:sldMasterIdLst>
  <p:notesMasterIdLst>
    <p:notesMasterId r:id="rId39"/>
  </p:notesMasterIdLst>
  <p:handoutMasterIdLst>
    <p:handoutMasterId r:id="rId40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56A67525-4E6A-4841-911D-D764B525B6DB}">
          <p14:sldIdLst>
            <p14:sldId id="2147469820"/>
            <p14:sldId id="2147482410"/>
            <p14:sldId id="2147469822"/>
            <p14:sldId id="2891"/>
          </p14:sldIdLst>
        </p14:section>
        <p14:section name="Contexte" id="{C0D68D0B-5F00-4FAA-B6F9-8BFD5CFCF93F}">
          <p14:sldIdLst>
            <p14:sldId id="2867"/>
            <p14:sldId id="2147482390"/>
            <p14:sldId id="2147469827"/>
            <p14:sldId id="2147482405"/>
          </p14:sldIdLst>
        </p14:section>
        <p14:section name="Interlocuteurs" id="{3144F622-73C6-47CD-8980-C0E38E798F26}">
          <p14:sldIdLst>
            <p14:sldId id="2147469839"/>
            <p14:sldId id="2147469838"/>
          </p14:sldIdLst>
        </p14:section>
        <p14:section name="Périmètre" id="{5D64E7E8-901A-4276-9EDC-741F8E9E886E}">
          <p14:sldIdLst>
            <p14:sldId id="2147469840"/>
            <p14:sldId id="2147482400"/>
            <p14:sldId id="2147482396"/>
            <p14:sldId id="2147469841"/>
            <p14:sldId id="2147482393"/>
          </p14:sldIdLst>
        </p14:section>
        <p14:section name="Démarrage Projet" id="{FAB4BA61-07A4-43EB-A7FF-687B473B0360}">
          <p14:sldIdLst>
            <p14:sldId id="2147469835"/>
            <p14:sldId id="2147482305"/>
            <p14:sldId id="2147482386"/>
            <p14:sldId id="2147482388"/>
            <p14:sldId id="2147482401"/>
            <p14:sldId id="2147482402"/>
            <p14:sldId id="2147482392"/>
            <p14:sldId id="2147469837"/>
            <p14:sldId id="2147482394"/>
            <p14:sldId id="2147482397"/>
            <p14:sldId id="2147482383"/>
            <p14:sldId id="2147482406"/>
          </p14:sldIdLst>
        </p14:section>
        <p14:section name="Marketing" id="{058FC5D8-3EDC-4324-96C6-2A681EE21A8C}">
          <p14:sldIdLst>
            <p14:sldId id="2147469834"/>
            <p14:sldId id="2147469825"/>
          </p14:sldIdLst>
        </p14:section>
        <p14:section name="Actions &amp; Check-list GO Projet" id="{A62D31D9-A834-4ADE-9E7D-9E7953178BF3}">
          <p14:sldIdLst>
            <p14:sldId id="2147482389"/>
            <p14:sldId id="2147469823"/>
            <p14:sldId id="2147482407"/>
            <p14:sldId id="2147482404"/>
            <p14:sldId id="21474824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00897B"/>
    <a:srgbClr val="1D6E9B"/>
    <a:srgbClr val="FFF2D3"/>
    <a:srgbClr val="BFBFBF"/>
    <a:srgbClr val="85CA46"/>
    <a:srgbClr val="8976C4"/>
    <a:srgbClr val="CF423F"/>
    <a:srgbClr val="4F8EB1"/>
    <a:srgbClr val="FC8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182098-5E30-42C8-8E77-AA02ACB5FAFA}">
  <a:tblStyle styleId="{36182098-5E30-42C8-8E77-AA02ACB5FA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éline GUIHOU" userId="72f5b96f-b03b-4249-9f54-018bdae0450c" providerId="ADAL" clId="{D9881549-E11E-4144-B41B-4AEB63281091}"/>
    <pc:docChg chg="undo redo custSel addSld delSld modSld sldOrd delMainMaster addSection delSection modSection">
      <pc:chgData name="Céline GUIHOU" userId="72f5b96f-b03b-4249-9f54-018bdae0450c" providerId="ADAL" clId="{D9881549-E11E-4144-B41B-4AEB63281091}" dt="2026-06-09T09:18:09.640" v="18609" actId="1036"/>
      <pc:docMkLst>
        <pc:docMk/>
      </pc:docMkLst>
      <pc:sldChg chg="modSp mod">
        <pc:chgData name="Céline GUIHOU" userId="72f5b96f-b03b-4249-9f54-018bdae0450c" providerId="ADAL" clId="{D9881549-E11E-4144-B41B-4AEB63281091}" dt="2026-06-09T09:18:09.640" v="18609" actId="1036"/>
        <pc:sldMkLst>
          <pc:docMk/>
          <pc:sldMk cId="171888888" sldId="2147482397"/>
        </pc:sldMkLst>
        <pc:spChg chg="mod">
          <ac:chgData name="Céline GUIHOU" userId="72f5b96f-b03b-4249-9f54-018bdae0450c" providerId="ADAL" clId="{D9881549-E11E-4144-B41B-4AEB63281091}" dt="2026-06-09T09:18:09.640" v="18609" actId="1036"/>
          <ac:spMkLst>
            <pc:docMk/>
            <pc:sldMk cId="171888888" sldId="2147482397"/>
            <ac:spMk id="6" creationId="{726B7EBA-8DF8-A096-5D6B-8E7FF52467E8}"/>
          </ac:spMkLst>
        </pc:spChg>
      </pc:sldChg>
      <pc:sldChg chg="addSp delSp modSp mod">
        <pc:chgData name="Céline GUIHOU" userId="72f5b96f-b03b-4249-9f54-018bdae0450c" providerId="ADAL" clId="{D9881549-E11E-4144-B41B-4AEB63281091}" dt="2026-05-14T16:02:24.770" v="18604" actId="20577"/>
        <pc:sldMkLst>
          <pc:docMk/>
          <pc:sldMk cId="2893164313" sldId="2147482410"/>
        </pc:sldMkLst>
        <pc:spChg chg="add mod">
          <ac:chgData name="Céline GUIHOU" userId="72f5b96f-b03b-4249-9f54-018bdae0450c" providerId="ADAL" clId="{D9881549-E11E-4144-B41B-4AEB63281091}" dt="2026-05-14T16:02:16.248" v="18601" actId="404"/>
          <ac:spMkLst>
            <pc:docMk/>
            <pc:sldMk cId="2893164313" sldId="2147482410"/>
            <ac:spMk id="6" creationId="{6BD4D78E-74BE-A48D-92DB-D5A8ADA46EB3}"/>
          </ac:spMkLst>
        </pc:spChg>
        <pc:spChg chg="mod">
          <ac:chgData name="Céline GUIHOU" userId="72f5b96f-b03b-4249-9f54-018bdae0450c" providerId="ADAL" clId="{D9881549-E11E-4144-B41B-4AEB63281091}" dt="2026-05-14T16:02:24.770" v="18604" actId="20577"/>
          <ac:spMkLst>
            <pc:docMk/>
            <pc:sldMk cId="2893164313" sldId="2147482410"/>
            <ac:spMk id="8" creationId="{780028FE-3391-A050-151C-880A881949C5}"/>
          </ac:spMkLst>
        </pc:spChg>
        <pc:picChg chg="add mod">
          <ac:chgData name="Céline GUIHOU" userId="72f5b96f-b03b-4249-9f54-018bdae0450c" providerId="ADAL" clId="{D9881549-E11E-4144-B41B-4AEB63281091}" dt="2026-05-14T16:01:38.372" v="18580" actId="1076"/>
          <ac:picMkLst>
            <pc:docMk/>
            <pc:sldMk cId="2893164313" sldId="2147482410"/>
            <ac:picMk id="3" creationId="{2FD3436E-0962-8521-56CD-A91CD3AF6A4E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Jours de consolidation par trimestre</c:v>
                </c:pt>
              </c:strCache>
            </c:strRef>
          </c:tx>
          <c:spPr>
            <a:solidFill>
              <a:srgbClr val="00897B"/>
            </a:solidFill>
          </c:spPr>
          <c:dPt>
            <c:idx val="3"/>
            <c:spPr>
              <a:solidFill>
                <a:srgbClr val="FD7F01"/>
              </a:solidFill>
            </c:spPr>
          </c:dPt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200" b="1">
                  <a:solidFill>
                    <a:srgbClr val="3F3F3F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DE0"/>
            </a:solidFill>
          </a:ln>
        </c:spPr>
        <c:txPr>
          <a:bodyPr/>
          <a:lstStyle/>
          <a:p>
            <a:pPr>
              <a:defRPr sz="1200" b="0">
                <a:solidFill>
                  <a:srgbClr val="5F6B73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D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9AA3A9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637B0D0-10DC-8235-A98B-F5F129E6D1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8C1CFA-9391-E0BA-6AA3-4D7609C2B0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A4C09-EC11-4B3D-8FC8-9DEC86E601CA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187C44-45CB-50AB-D241-C836AF88D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1582F-81EC-5520-1FF0-CCAB943802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CAA5E-D1A1-4C0D-B264-0AA16402F1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20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85800"/>
            <a:ext cx="6127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5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7BF4BF1-7362-89B3-5903-45CD62EE2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892" y="2538228"/>
            <a:ext cx="5220677" cy="178154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67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D04501D-B155-FEC8-4DD8-4F26496CC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2892" y="1356970"/>
            <a:ext cx="5220677" cy="109857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  <a:latin typeface="Montserrat Medium" panose="00000600000000000000" pitchFamily="2" charset="0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D6BE347D-5294-DD63-6DB7-E0599783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17" y="6051542"/>
            <a:ext cx="2211753" cy="487134"/>
          </a:xfrm>
        </p:spPr>
        <p:txBody>
          <a:bodyPr/>
          <a:lstStyle/>
          <a:p>
            <a:fld id="{0A21C1CE-2FC8-4FDC-9D09-80CD461981CE}" type="datetimeFigureOut">
              <a:rPr lang="fr-FR" smtClean="0"/>
              <a:t>09/06/2026</a:t>
            </a:fld>
            <a:endParaRPr lang="fr-FR"/>
          </a:p>
        </p:txBody>
      </p:sp>
      <p:pic>
        <p:nvPicPr>
          <p:cNvPr id="10" name="Image 9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4D220ED9-E8FC-7E2C-0F83-08D0644260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1232" y="5750448"/>
            <a:ext cx="2516553" cy="79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1952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hierarchi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2DD2086-F697-20E7-8CBD-C7B0AA016C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0" name="Espace réservé du texte 29">
            <a:extLst>
              <a:ext uri="{FF2B5EF4-FFF2-40B4-BE49-F238E27FC236}">
                <a16:creationId xmlns:a16="http://schemas.microsoft.com/office/drawing/2014/main" id="{1572CB80-492D-D14B-8428-D4668E55D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710" y="3839345"/>
            <a:ext cx="11015578" cy="430212"/>
          </a:xfrm>
          <a:prstGeom prst="rect">
            <a:avLst/>
          </a:prstGeom>
        </p:spPr>
        <p:txBody>
          <a:bodyPr/>
          <a:lstStyle>
            <a:lvl2pPr marL="0" indent="0">
              <a:buFont typeface="Arial" panose="020B0604020202020204" pitchFamily="34" charset="0"/>
              <a:buNone/>
              <a:defRPr lang="fr-FR" sz="2400" b="0" i="0" u="none" strike="noStrike" kern="1200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  <a:tabLst/>
            </a:pPr>
            <a:r>
              <a:rPr lang="fr-FR"/>
              <a:t>Idée 2</a:t>
            </a:r>
          </a:p>
        </p:txBody>
      </p:sp>
      <p:sp>
        <p:nvSpPr>
          <p:cNvPr id="7" name="Espace réservé du texte 29">
            <a:extLst>
              <a:ext uri="{FF2B5EF4-FFF2-40B4-BE49-F238E27FC236}">
                <a16:creationId xmlns:a16="http://schemas.microsoft.com/office/drawing/2014/main" id="{D3D69868-5B84-0EDA-DACF-A3AD690029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710" y="4341181"/>
            <a:ext cx="11015578" cy="1873188"/>
          </a:xfrm>
          <a:prstGeom prst="rect">
            <a:avLst/>
          </a:prstGeom>
        </p:spPr>
        <p:txBody>
          <a:bodyPr>
            <a:noAutofit/>
          </a:bodyPr>
          <a:lstStyle>
            <a:lvl2pPr marL="285750" indent="-285750">
              <a:buFont typeface="Arial" panose="020B0604020202020204" pitchFamily="34" charset="0"/>
              <a:buChar char="•"/>
              <a:defRPr lang="fr-FR" sz="2000" b="1" i="0" u="none" strike="noStrike" kern="1200" cap="none" dirty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08038" indent="-266700"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  <a:latin typeface="Montserrat" panose="00000500000000000000" pitchFamily="2" charset="0"/>
              </a:defRPr>
            </a:lvl3pPr>
            <a:lvl4pPr marL="1252538" indent="-355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Montserrat" panose="00000500000000000000" pitchFamily="2" charset="0"/>
              </a:defRPr>
            </a:lvl4pPr>
            <a:lvl5pPr marL="1074738" indent="-177800">
              <a:spcBef>
                <a:spcPts val="600"/>
              </a:spcBef>
              <a:spcAft>
                <a:spcPts val="600"/>
              </a:spcAft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2"/>
            <a:endParaRPr lang="fr-FR"/>
          </a:p>
          <a:p>
            <a:pPr lvl="2"/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BAEDD24-D120-E7C1-3ED7-1BDE5A5A42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775534"/>
            <a:ext cx="11015578" cy="1810579"/>
          </a:xfrm>
          <a:prstGeom prst="rect">
            <a:avLst/>
          </a:prstGeom>
        </p:spPr>
        <p:txBody>
          <a:bodyPr>
            <a:noAutofit/>
          </a:bodyPr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/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D2759BA-106C-5459-5C29-2309822F7D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6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Contenu Simpl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8880F94-C277-1DFA-291A-C47B0BAD70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7A3A4E4-45F4-4A81-5C10-9F029C75F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750" y="1216025"/>
            <a:ext cx="11015663" cy="46196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 lang="fr-FR" sz="2400" b="0" i="0" u="none" strike="noStrike" cap="none" dirty="0">
                <a:solidFill>
                  <a:srgbClr val="FD7F01"/>
                </a:solidFill>
                <a:latin typeface="+mj-lt"/>
                <a:ea typeface="Arial"/>
                <a:cs typeface="Aharoni" pitchFamily="2" charset="-79"/>
                <a:sym typeface="Arial"/>
              </a:defRPr>
            </a:lvl2pPr>
          </a:lstStyle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Idée 1</a:t>
            </a:r>
          </a:p>
        </p:txBody>
      </p:sp>
      <p:sp>
        <p:nvSpPr>
          <p:cNvPr id="4" name="Espace réservé du texte 11">
            <a:extLst>
              <a:ext uri="{FF2B5EF4-FFF2-40B4-BE49-F238E27FC236}">
                <a16:creationId xmlns:a16="http://schemas.microsoft.com/office/drawing/2014/main" id="{5EB06AEC-7823-A96C-6538-905E6D82D1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710" y="1935214"/>
            <a:ext cx="11015578" cy="4478901"/>
          </a:xfrm>
          <a:prstGeom prst="rect">
            <a:avLst/>
          </a:prstGeom>
        </p:spPr>
        <p:txBody>
          <a:bodyPr/>
          <a:lstStyle>
            <a:lvl2pPr marL="342900" marR="0" indent="-342900" algn="l" defTabSz="909461" rtl="0" eaLnBrk="1" latinLnBrk="0" hangingPunct="1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defRPr lang="fr-FR" sz="2000" b="1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2pPr>
            <a:lvl3pPr marL="884238" marR="0" indent="-34290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8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3pPr>
            <a:lvl4pPr marR="0" algn="l" defTabSz="909461" rtl="0" eaLnBrk="1" latinLnBrk="0" hangingPunct="1">
              <a:lnSpc>
                <a:spcPct val="100000"/>
              </a:lnSpc>
              <a:buFont typeface="Arial" panose="020B0604020202020204" pitchFamily="34" charset="0"/>
              <a:defRPr lang="fr-FR" sz="1600" b="0" i="0" u="none" strike="noStrike" kern="1200" cap="none" dirty="0" smtClean="0">
                <a:solidFill>
                  <a:schemeClr val="tx2">
                    <a:lumMod val="10000"/>
                  </a:schemeClr>
                </a:solidFill>
                <a:latin typeface="Montserrat" panose="00000500000000000000" pitchFamily="2" charset="0"/>
                <a:ea typeface="+mn-ea"/>
                <a:cs typeface="Aharoni" pitchFamily="2" charset="-79"/>
                <a:sym typeface="Arial"/>
              </a:defRPr>
            </a:lvl4pPr>
          </a:lstStyle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Niveau 1</a:t>
            </a:r>
          </a:p>
          <a:p>
            <a:pPr marL="808038" marR="0" lvl="2" indent="-2667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29FBC"/>
              </a:buClr>
              <a:buFont typeface="Arial" panose="020B0604020202020204" pitchFamily="34" charset="0"/>
              <a:buChar char="–"/>
            </a:pPr>
            <a:r>
              <a:rPr lang="fr-FR"/>
              <a:t>Niveau 2</a:t>
            </a:r>
          </a:p>
          <a:p>
            <a:pPr marL="1252538" marR="0" lvl="3" indent="-3556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/>
              <a:t>Niveau 3</a:t>
            </a:r>
          </a:p>
          <a:p>
            <a:pPr lvl="4"/>
            <a:endParaRPr lang="fr-FR"/>
          </a:p>
        </p:txBody>
      </p:sp>
      <p:pic>
        <p:nvPicPr>
          <p:cNvPr id="9" name="Image 8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A3D1FB0C-4187-49D2-A71D-E13D83FBAC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7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285710" y="211429"/>
            <a:ext cx="11671300" cy="645803"/>
          </a:xfrm>
          <a:prstGeom prst="rect">
            <a:avLst/>
          </a:prstGeom>
        </p:spPr>
        <p:txBody>
          <a:bodyPr spcFirstLastPara="1" wrap="square" lIns="163120" tIns="163120" rIns="163120" bIns="163120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2400" b="1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3000"/>
              <a:buNone/>
              <a:defRPr sz="4027" b="1">
                <a:solidFill>
                  <a:srgbClr val="F67031"/>
                </a:solidFill>
              </a:defRPr>
            </a:lvl9pPr>
          </a:lstStyle>
          <a:p>
            <a:r>
              <a:rPr lang="fr-FR"/>
              <a:t>Titre de la page </a:t>
            </a:r>
            <a:endParaRPr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7A32328-3CF6-45AD-9DEA-6A78C1F08F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441352" y="857232"/>
            <a:ext cx="1134528" cy="10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7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8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05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bg>
      <p:bgPr>
        <a:solidFill>
          <a:schemeClr val="bg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D3A5B2B-0C50-B833-29D5-2200305DA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5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52BE64E9-9BAA-04FB-9753-FFF16CBBAE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33010" y="6402338"/>
            <a:ext cx="1136556" cy="3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6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1DCD277-91C3-5279-5130-B80C09C68A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CA200C7-68FB-A544-81F8-D3C99973CF1B}"/>
              </a:ext>
            </a:extLst>
          </p:cNvPr>
          <p:cNvSpPr txBox="1"/>
          <p:nvPr userDrawn="1"/>
        </p:nvSpPr>
        <p:spPr>
          <a:xfrm>
            <a:off x="3131010" y="3236268"/>
            <a:ext cx="6094378" cy="119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161" spc="104">
                <a:solidFill>
                  <a:schemeClr val="accent6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MERCI ! </a:t>
            </a:r>
            <a:endParaRPr lang="fr-FR" sz="7161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Picture 24">
            <a:extLst>
              <a:ext uri="{FF2B5EF4-FFF2-40B4-BE49-F238E27FC236}">
                <a16:creationId xmlns:a16="http://schemas.microsoft.com/office/drawing/2014/main" id="{70F98015-DDDB-FD47-A227-20DFD901F5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3932924" y="4493366"/>
            <a:ext cx="1604211" cy="152400"/>
          </a:xfrm>
          <a:prstGeom prst="rect">
            <a:avLst/>
          </a:prstGeom>
        </p:spPr>
      </p:pic>
      <p:pic>
        <p:nvPicPr>
          <p:cNvPr id="2" name="Image 1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DA7D387C-E7AF-DE03-9EE5-38C4AED23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7540" y="6376514"/>
            <a:ext cx="1163125" cy="36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3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-ver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6E9B97-6A05-4C4D-A51E-19E60D715B2A}"/>
              </a:ext>
            </a:extLst>
          </p:cNvPr>
          <p:cNvSpPr/>
          <p:nvPr userDrawn="1"/>
        </p:nvSpPr>
        <p:spPr>
          <a:xfrm>
            <a:off x="-233644" y="1"/>
            <a:ext cx="12425645" cy="6858000"/>
          </a:xfrm>
          <a:prstGeom prst="rect">
            <a:avLst/>
          </a:prstGeom>
          <a:solidFill>
            <a:schemeClr val="accent6"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86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E218789-B327-F548-AE6C-37D35C8695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451" y="2789774"/>
            <a:ext cx="1268413" cy="1278453"/>
          </a:xfrm>
          <a:prstGeom prst="rect">
            <a:avLst/>
          </a:prstGeo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627E451-FD0C-5049-9FE0-E2AC3CBC42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43277" y="3043236"/>
            <a:ext cx="8720137" cy="771525"/>
          </a:xfrm>
          <a:prstGeom prst="rect">
            <a:avLst/>
          </a:prstGeom>
        </p:spPr>
        <p:txBody>
          <a:bodyPr/>
          <a:lstStyle>
            <a:lvl1pPr>
              <a:defRPr sz="4973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fr-FR"/>
              <a:t>Titre de la </a:t>
            </a:r>
            <a:r>
              <a:rPr lang="fr-FR" err="1"/>
              <a:t>transistion</a:t>
            </a:r>
            <a:endParaRPr lang="fr-FR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42CE0AF9-8722-8F43-B803-FAD88E1A9A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578921">
            <a:off x="2196626" y="3370763"/>
            <a:ext cx="1278886" cy="1214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2EED484-2CF8-4A92-9038-90E2A313A6B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65490" y="6426029"/>
            <a:ext cx="920927" cy="2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18792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E0678-5B09-8274-41A0-F4BCC3A8F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1" y="1323191"/>
            <a:ext cx="10945009" cy="4843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fr-FR"/>
              <a:t>Cliquez pour modifier les styles du texte du masque</a:t>
            </a:r>
          </a:p>
          <a:p>
            <a:pPr marL="0" marR="0" lvl="1" indent="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None/>
            </a:pPr>
            <a:endParaRPr lang="fr-FR"/>
          </a:p>
          <a:p>
            <a:pPr marL="342900" marR="0" lvl="1" indent="-342900" algn="l" defTabSz="90946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fr-FR"/>
              <a:t>Premier niveau</a:t>
            </a:r>
          </a:p>
          <a:p>
            <a:pPr lvl="2"/>
            <a:r>
              <a:rPr lang="fr-FR"/>
              <a:t>Second niveau</a:t>
            </a:r>
          </a:p>
          <a:p>
            <a:pPr lvl="3"/>
            <a:r>
              <a:rPr lang="fr-FR"/>
              <a:t>Troisième niveau</a:t>
            </a:r>
          </a:p>
        </p:txBody>
      </p:sp>
      <p:sp>
        <p:nvSpPr>
          <p:cNvPr id="7" name="Espace réservé du titre 6">
            <a:extLst>
              <a:ext uri="{FF2B5EF4-FFF2-40B4-BE49-F238E27FC236}">
                <a16:creationId xmlns:a16="http://schemas.microsoft.com/office/drawing/2014/main" id="{F2CF7FBF-3E9C-4D6C-807D-D6DF662C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91" y="365126"/>
            <a:ext cx="10945009" cy="796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F22AD14-9137-A5D0-745D-DCA2AC797884}"/>
              </a:ext>
            </a:extLst>
          </p:cNvPr>
          <p:cNvSpPr txBox="1"/>
          <p:nvPr userDrawn="1"/>
        </p:nvSpPr>
        <p:spPr>
          <a:xfrm>
            <a:off x="27197" y="6543430"/>
            <a:ext cx="391454" cy="2300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1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7C34942-2C05-42E1-85B2-9B2415C4A4D2}" type="slidenum">
              <a:rPr kumimoji="0" lang="en-GB" sz="895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6819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‹N°›</a:t>
            </a:fld>
            <a:endParaRPr kumimoji="0" lang="en-GB" sz="8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760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06" r:id="rId2"/>
    <p:sldLayoutId id="2147483743" r:id="rId3"/>
    <p:sldLayoutId id="2147483748" r:id="rId4"/>
    <p:sldLayoutId id="2147483746" r:id="rId5"/>
    <p:sldLayoutId id="2147483747" r:id="rId6"/>
    <p:sldLayoutId id="2147483744" r:id="rId7"/>
    <p:sldLayoutId id="2147483739" r:id="rId8"/>
    <p:sldLayoutId id="2147483749" r:id="rId9"/>
  </p:sldLayoutIdLst>
  <p:hf hdr="0" ftr="0" dt="0"/>
  <p:txStyles>
    <p:titleStyle>
      <a:lvl1pPr algn="l" defTabSz="909461" rtl="0" eaLnBrk="1" latinLnBrk="0" hangingPunct="1">
        <a:lnSpc>
          <a:spcPct val="90000"/>
        </a:lnSpc>
        <a:spcBef>
          <a:spcPct val="0"/>
        </a:spcBef>
        <a:buNone/>
        <a:defRPr sz="2387" b="1" kern="1200">
          <a:solidFill>
            <a:schemeClr val="tx2"/>
          </a:solidFill>
          <a:latin typeface="Montserrat" pitchFamily="2" charset="77"/>
          <a:ea typeface="+mj-ea"/>
          <a:cs typeface="+mj-cs"/>
        </a:defRPr>
      </a:lvl1pPr>
    </p:titleStyle>
    <p:bodyStyle>
      <a:lvl1pPr marL="0" indent="0" algn="l" defTabSz="909461" rtl="0" eaLnBrk="1" latinLnBrk="0" hangingPunct="1">
        <a:lnSpc>
          <a:spcPct val="90000"/>
        </a:lnSpc>
        <a:spcBef>
          <a:spcPts val="995"/>
        </a:spcBef>
        <a:buFont typeface="Arial" panose="020B0604020202020204" pitchFamily="34" charset="0"/>
        <a:buNone/>
        <a:defRPr sz="2785" kern="1200">
          <a:solidFill>
            <a:srgbClr val="FD7F01"/>
          </a:solidFill>
          <a:latin typeface="Montserrat" pitchFamily="2" charset="77"/>
          <a:ea typeface="+mn-ea"/>
          <a:cs typeface="+mn-cs"/>
        </a:defRPr>
      </a:lvl1pPr>
      <a:lvl2pPr marL="177800" indent="-177800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lang="fr-FR" sz="1600" b="0" i="0" u="none" strike="noStrike" kern="1200" cap="none" dirty="0">
          <a:solidFill>
            <a:srgbClr val="FD7F01"/>
          </a:solidFill>
          <a:latin typeface="Montserrat" panose="00000500000000000000" pitchFamily="2" charset="0"/>
          <a:ea typeface="+mn-ea"/>
          <a:cs typeface="Aharoni" pitchFamily="2" charset="-79"/>
          <a:sym typeface="Arial"/>
        </a:defRPr>
      </a:lvl2pPr>
      <a:lvl3pPr marL="541338" indent="-185738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rgbClr val="229FBC"/>
        </a:buClr>
        <a:buFont typeface="Police système Courant"/>
        <a:buChar char="-"/>
        <a:tabLst>
          <a:tab pos="719138" algn="l"/>
          <a:tab pos="1252538" algn="l"/>
        </a:tabLst>
        <a:defRPr sz="1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985838" indent="-138113" algn="l" defTabSz="909461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87888" indent="0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None/>
        <a:tabLst/>
        <a:defRPr sz="1790" kern="1200">
          <a:solidFill>
            <a:srgbClr val="229FBC"/>
          </a:solidFill>
          <a:latin typeface="Modern Love Caps" pitchFamily="82" charset="0"/>
          <a:ea typeface="+mn-ea"/>
          <a:cs typeface="+mn-cs"/>
        </a:defRPr>
      </a:lvl5pPr>
      <a:lvl6pPr marL="250101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95574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410479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865210" indent="-227365" algn="l" defTabSz="909461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1pPr>
      <a:lvl2pPr marL="45473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2pPr>
      <a:lvl3pPr marL="909461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3pPr>
      <a:lvl4pPr marL="1364192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4pPr>
      <a:lvl5pPr marL="181892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5pPr>
      <a:lvl6pPr marL="2273653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6pPr>
      <a:lvl7pPr marL="272838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7pPr>
      <a:lvl8pPr marL="3183114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8pPr>
      <a:lvl9pPr marL="3637845" algn="l" defTabSz="909461" rtl="0" eaLnBrk="1" latinLnBrk="0" hangingPunct="1">
        <a:defRPr sz="17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Piloter le portefeuille projets de Client Alpha</a:t>
            </a:r>
          </a:p>
          <a:p>
            <a:r>
              <a:rPr sz="2200" b="0" i="0">
                <a:solidFill>
                  <a:srgbClr val="5F6B73"/>
                </a:solidFill>
                <a:latin typeface="Montserrat"/>
              </a:rPr>
              <a:t>Octobre 2026 – Version 1.0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Proposition d'accompagnement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" y="4752000"/>
            <a:ext cx="504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897B"/>
                </a:solidFill>
                <a:latin typeface="Montserrat SemiBold"/>
              </a:rPr>
              <a:t>Pour Client 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000" y="6228000"/>
            <a:ext cx="43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Document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L'essentiel en une page</a:t>
            </a:r>
          </a:p>
        </p:txBody>
      </p:sp>
      <p:sp>
        <p:nvSpPr>
          <p:cNvPr id="3" name="Oval 2"/>
          <p:cNvSpPr/>
          <p:nvPr/>
        </p:nvSpPr>
        <p:spPr>
          <a:xfrm>
            <a:off x="342000" y="1296000"/>
            <a:ext cx="503999" cy="503999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000" y="1260000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43" b="1" i="0">
                <a:solidFill>
                  <a:srgbClr val="3F3F3F"/>
                </a:solidFill>
                <a:latin typeface="Montserrat SemiBold"/>
              </a:rPr>
              <a:t>Le portefeuille est piloté dans 14 fichiers différents</a:t>
            </a:r>
          </a:p>
          <a:p>
            <a:pPr algn="l">
              <a:spcAft>
                <a:spcPts val="400"/>
              </a:spcAft>
            </a:pPr>
            <a:r>
              <a:rPr sz="1455" b="0" i="0">
                <a:solidFill>
                  <a:srgbClr val="5F6B73"/>
                </a:solidFill>
                <a:latin typeface="Montserrat"/>
              </a:rPr>
              <a:t>Les arbitrages du comité se font sur des données de 3 à 6 semaines.</a:t>
            </a:r>
          </a:p>
        </p:txBody>
      </p:sp>
      <p:sp>
        <p:nvSpPr>
          <p:cNvPr id="5" name="Oval 4"/>
          <p:cNvSpPr/>
          <p:nvPr/>
        </p:nvSpPr>
        <p:spPr>
          <a:xfrm>
            <a:off x="342000" y="2591999"/>
            <a:ext cx="503999" cy="503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000" y="2556000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F3F3F"/>
                </a:solidFill>
                <a:latin typeface="Montserrat SemiBold"/>
              </a:rPr>
              <a:t>Un référentiel unique en 5 mois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Accélérateur PPM Ready adapté à votre méthode Phase &amp; Gate.</a:t>
            </a:r>
          </a:p>
        </p:txBody>
      </p:sp>
      <p:sp>
        <p:nvSpPr>
          <p:cNvPr id="7" name="Oval 6"/>
          <p:cNvSpPr/>
          <p:nvPr/>
        </p:nvSpPr>
        <p:spPr>
          <a:xfrm>
            <a:off x="342000" y="3887999"/>
            <a:ext cx="503999" cy="503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000" y="3851999"/>
            <a:ext cx="6228000" cy="11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F3F3F"/>
                </a:solidFill>
                <a:latin typeface="Montserrat SemiBold"/>
              </a:rPr>
              <a:t>Un comité mensuel outillé dès l'ouverture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Tableaux de bord prêts pour la clôture budgétaire de mars.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6000" y="1260000"/>
            <a:ext cx="3311999" cy="3780000"/>
          </a:xfrm>
          <a:prstGeom prst="roundRect">
            <a:avLst>
              <a:gd name="adj" fmla="val 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8000" y="1548000"/>
            <a:ext cx="2807999" cy="32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E6F5F3"/>
                </a:solidFill>
                <a:latin typeface="Montserrat SemiBold"/>
              </a:rPr>
              <a:t>DÉCISION ATTENDUE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Montserrat SemiBold"/>
              </a:rPr>
              <a:t>Valider le démarrage le 5 novembre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127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Formule Adapt recommandée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127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Kick-off client sous 3 semaines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468000"/>
            <a:ext cx="720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 i="0">
                <a:solidFill>
                  <a:srgbClr val="FD7F01"/>
                </a:solidFill>
                <a:latin typeface="Montserrat ExtraBold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864000" y="2033999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2015999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Votre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3999" y="2015999"/>
            <a:ext cx="10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10 min</a:t>
            </a:r>
          </a:p>
        </p:txBody>
      </p:sp>
      <p:sp>
        <p:nvSpPr>
          <p:cNvPr id="6" name="Oval 5"/>
          <p:cNvSpPr/>
          <p:nvPr/>
        </p:nvSpPr>
        <p:spPr>
          <a:xfrm>
            <a:off x="864000" y="2591999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4000" y="2574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Notre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3999" y="2574000"/>
            <a:ext cx="10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15 min</a:t>
            </a:r>
          </a:p>
        </p:txBody>
      </p:sp>
      <p:sp>
        <p:nvSpPr>
          <p:cNvPr id="9" name="Oval 8"/>
          <p:cNvSpPr/>
          <p:nvPr/>
        </p:nvSpPr>
        <p:spPr>
          <a:xfrm>
            <a:off x="864000" y="3150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4000" y="3131999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Démarche et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999" y="3131999"/>
            <a:ext cx="10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10 min</a:t>
            </a:r>
          </a:p>
        </p:txBody>
      </p:sp>
      <p:sp>
        <p:nvSpPr>
          <p:cNvPr id="12" name="Oval 11"/>
          <p:cNvSpPr/>
          <p:nvPr/>
        </p:nvSpPr>
        <p:spPr>
          <a:xfrm>
            <a:off x="864000" y="3708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4000" y="3690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Investissement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999" y="3690000"/>
            <a:ext cx="10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10 min</a:t>
            </a:r>
          </a:p>
        </p:txBody>
      </p:sp>
      <p:sp>
        <p:nvSpPr>
          <p:cNvPr id="15" name="Oval 14"/>
          <p:cNvSpPr/>
          <p:nvPr/>
        </p:nvSpPr>
        <p:spPr>
          <a:xfrm>
            <a:off x="864000" y="4266000"/>
            <a:ext cx="378000" cy="37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ontserrat ExtraBold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4000" y="4248000"/>
            <a:ext cx="54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Prochaines étapes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999" y="4248000"/>
            <a:ext cx="108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0000" y="3240000"/>
            <a:ext cx="2232000" cy="10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D7F01"/>
                </a:solidFill>
                <a:latin typeface="Montserrat ExtraBold"/>
              </a:rPr>
              <a:t>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1. Votre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48000" y="3924000"/>
            <a:ext cx="79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Ce que nous avons compris de vos échanges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 constat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42000" y="2160000"/>
            <a:ext cx="100800" cy="2015999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4000" y="1872000"/>
            <a:ext cx="9540000" cy="25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1A2832"/>
                </a:solidFill>
                <a:latin typeface="Montserrat ExtraBold"/>
              </a:rPr>
              <a:t>Vos comités arbitrent </a:t>
            </a:r>
            <a:r>
              <a:rPr sz="3800" b="1" i="0">
                <a:solidFill>
                  <a:srgbClr val="FD7F01"/>
                </a:solidFill>
                <a:latin typeface="Montserrat ExtraBold"/>
              </a:rPr>
              <a:t>180 projets</a:t>
            </a:r>
            <a:r>
              <a:rPr sz="3800" b="1" i="0">
                <a:solidFill>
                  <a:srgbClr val="1A2832"/>
                </a:solidFill>
                <a:latin typeface="Montserrat ExtraBold"/>
              </a:rPr>
              <a:t> avec des données qui ont un mois de retard.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4000" y="4536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F6B73"/>
                </a:solidFill>
                <a:latin typeface="Montserrat"/>
              </a:rPr>
              <a:t>C'est le point qui revient dans chacun de nos 4 entretiens.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6138000"/>
            <a:ext cx="88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Source : entretiens de découverte, septembre 2026 (exemple fictif)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Quatre chiffres résument l'enjeu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2448000" cy="324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2000" y="1260000"/>
            <a:ext cx="72000" cy="3240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1548000"/>
            <a:ext cx="1944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A2832"/>
                </a:solidFill>
                <a:latin typeface="Montserrat ExtraBold"/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2772000"/>
            <a:ext cx="1944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projets actifs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répartis sur 6 directions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000" y="1260000"/>
            <a:ext cx="2448000" cy="3240000"/>
          </a:xfrm>
          <a:prstGeom prst="roundRect">
            <a:avLst>
              <a:gd name="adj" fmla="val 8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78000" y="1260000"/>
            <a:ext cx="72000" cy="32400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6000" y="1548000"/>
            <a:ext cx="1944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D7F01"/>
                </a:solidFill>
                <a:latin typeface="Montserrat ExtraBold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6000" y="2772000"/>
            <a:ext cx="1944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fichiers de suivi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sans référentiel commun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4000" y="1260000"/>
            <a:ext cx="2448000" cy="324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4000" y="1260000"/>
            <a:ext cx="72000" cy="3240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2000" y="1548000"/>
            <a:ext cx="1944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27" b="1" i="0">
                <a:solidFill>
                  <a:srgbClr val="1A2832"/>
                </a:solidFill>
                <a:latin typeface="Montserrat ExtraBold"/>
              </a:rPr>
              <a:t>4 sem.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2000" y="2772000"/>
            <a:ext cx="1944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de délai de consolidation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avant chaque comité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0000" y="1260000"/>
            <a:ext cx="2448000" cy="324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50000" y="1260000"/>
            <a:ext cx="72000" cy="3240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8000" y="1548000"/>
            <a:ext cx="1944000" cy="11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A2832"/>
                </a:solidFill>
                <a:latin typeface="Montserrat ExtraBold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8000" y="2772000"/>
            <a:ext cx="1944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chefs de projet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à embarquer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" y="4680000"/>
            <a:ext cx="10656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Le coût n'est pas l'outil : c'est le temps de consolidation et les décisions prises en retard.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" y="6138000"/>
            <a:ext cx="88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Source : données client, exemple fictif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 temps de consolidation a doublé en trois ans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42000" y="1260000"/>
          <a:ext cx="7740000" cy="471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70000" y="1260000"/>
            <a:ext cx="2628000" cy="4716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70000" y="1260000"/>
            <a:ext cx="2628000" cy="720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86000" y="1548000"/>
            <a:ext cx="2196000" cy="42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D7F01"/>
                </a:solidFill>
                <a:latin typeface="Montserrat ExtraBold"/>
              </a:rPr>
              <a:t>×2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La charge de reporting croît avec le portefeuille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Sans référentiel, chaque nouveau projet ajoute du travail manuel.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6138000"/>
            <a:ext cx="88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Source : estimation PMO, exemple fictif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 qui change pour vos équipes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4860000" cy="4932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000" y="1475999"/>
            <a:ext cx="435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AA3A9"/>
                </a:solidFill>
                <a:latin typeface="Montserrat SemiBold"/>
              </a:rPr>
              <a:t>AUJOURD'HUI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5F6B73"/>
                </a:solidFill>
                <a:latin typeface="Montserrat SemiBold"/>
              </a:rPr>
              <a:t>Un pilotage dispersé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9AA3A9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14 fichiers à consolider à la main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9AA3A9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Des chiffres différents selon les directions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9AA3A9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5F6B73"/>
                </a:solidFill>
                <a:latin typeface="Montserrat"/>
              </a:rPr>
              <a:t>Des arbitrages sur des données datées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82000" y="3401999"/>
            <a:ext cx="576000" cy="648000"/>
          </a:xfrm>
          <a:prstGeom prst="rightArrow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38000" y="1260000"/>
            <a:ext cx="4860000" cy="4932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38000" y="1260000"/>
            <a:ext cx="4860000" cy="7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0000" y="1475999"/>
            <a:ext cx="4356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897B"/>
                </a:solidFill>
                <a:latin typeface="Montserrat SemiBold"/>
              </a:rPr>
              <a:t>AVEC TRISKELL</a:t>
            </a:r>
          </a:p>
          <a:p>
            <a:pPr algn="l">
              <a:spcAft>
                <a:spcPts val="12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Un pilotage partagé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Un référentiel unique, à jour en continu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Les mêmes indicateurs pour tous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Un comité qui décide sur la donnée du jour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2. Notre proposition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Une solution pensée pour le PMO</a:t>
            </a:r>
          </a:p>
        </p:txBody>
      </p:sp>
      <p:pic>
        <p:nvPicPr>
          <p:cNvPr id="3" name="Picture 2" descr="image.jpeg"/>
          <p:cNvPicPr>
            <a:picLocks noChangeAspect="1"/>
          </p:cNvPicPr>
          <p:nvPr/>
        </p:nvPicPr>
        <p:blipFill>
          <a:blip r:embed="rId2"/>
          <a:srcRect l="18138" r="18138"/>
          <a:stretch>
            <a:fillRect/>
          </a:stretch>
        </p:blipFill>
        <p:spPr>
          <a:xfrm>
            <a:off x="342000" y="1260000"/>
            <a:ext cx="5220000" cy="493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93999" y="1368000"/>
            <a:ext cx="5004000" cy="47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0897B"/>
                </a:solidFill>
                <a:latin typeface="Montserrat SemiBold"/>
              </a:rPr>
              <a:t>TRISKELL PPM</a:t>
            </a:r>
          </a:p>
          <a:p>
            <a:pPr algn="l">
              <a:spcAft>
                <a:spcPts val="1400"/>
              </a:spcAft>
            </a:pPr>
            <a:r>
              <a:rPr sz="2600" b="1" i="0">
                <a:solidFill>
                  <a:srgbClr val="1A2832"/>
                </a:solidFill>
                <a:latin typeface="Montserrat SemiBold"/>
              </a:rPr>
              <a:t>Le portefeuille, la demande et les budgets au même endroit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Gestion de la demande native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Méthodologie Phase &amp; Gate paramétrable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600" b="0" i="0">
                <a:solidFill>
                  <a:srgbClr val="3F3F3F"/>
                </a:solidFill>
                <a:latin typeface="Montserrat"/>
              </a:rPr>
              <a:t>Tableaux de bord prêts pour le comité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Trois engagements pour réussir le projet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2000" y="1260000"/>
            <a:ext cx="3360000" cy="7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999" y="1548000"/>
            <a:ext cx="540000" cy="540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999" y="2232000"/>
            <a:ext cx="2928000" cy="28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897B"/>
                </a:solidFill>
                <a:latin typeface="Montserrat SemiBold"/>
              </a:rPr>
              <a:t>ENGAGEMENT 1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Partir de votre méthode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Vos jalons, vos instances, votre vocabulaire.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0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90000" y="1260000"/>
            <a:ext cx="3360000" cy="720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000" y="1548000"/>
            <a:ext cx="540000" cy="540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000" y="2232000"/>
            <a:ext cx="2928000" cy="28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D7F01"/>
                </a:solidFill>
                <a:latin typeface="Montserrat SemiBold"/>
              </a:rPr>
              <a:t>ENGAGEMENT 2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Ouvrir avant la clôture budgétaire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Service ouvert le 31 mars, avec les budgets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94000" y="1584000"/>
            <a:ext cx="1440000" cy="324000"/>
          </a:xfrm>
          <a:prstGeom prst="roundRect">
            <a:avLst>
              <a:gd name="adj" fmla="val 6000"/>
            </a:avLst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ontserrat SemiBold"/>
              </a:rPr>
              <a:t>Votre priorité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8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8000" y="1260000"/>
            <a:ext cx="3360000" cy="7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54000" y="1548000"/>
            <a:ext cx="540000" cy="540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000" y="2232000"/>
            <a:ext cx="2928000" cy="28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897B"/>
                </a:solidFill>
                <a:latin typeface="Montserrat SemiBold"/>
              </a:rPr>
              <a:t>ENGAGEMENT 3</a:t>
            </a:r>
          </a:p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3F3F3F"/>
                </a:solidFill>
                <a:latin typeface="Montserrat SemiBold"/>
              </a:rPr>
              <a:t>Embarquer les 80 chefs de projet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F6B73"/>
                </a:solidFill>
                <a:latin typeface="Montserrat"/>
              </a:rPr>
              <a:t>Formation, ambassadeurs, suivi de l'adoption.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cas d'usage priorisés avec vous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3999" y="1278000"/>
            <a:ext cx="3114000" cy="2250000"/>
          </a:xfrm>
          <a:prstGeom prst="rect">
            <a:avLst/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1999" y="1350000"/>
            <a:ext cx="289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97B"/>
                </a:solidFill>
                <a:latin typeface="Montserrat SemiBold"/>
              </a:rPr>
              <a:t>PRIORITÉ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014000" y="1278000"/>
            <a:ext cx="3114000" cy="225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21999" y="1350000"/>
            <a:ext cx="289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AA3A9"/>
                </a:solidFill>
                <a:latin typeface="Montserrat SemiBold"/>
              </a:rPr>
              <a:t>PROJETS STRUCTURANTS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99" y="3564000"/>
            <a:ext cx="3114000" cy="225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999" y="3636000"/>
            <a:ext cx="289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AA3A9"/>
                </a:solidFill>
                <a:latin typeface="Montserrat SemiBold"/>
              </a:rPr>
              <a:t>SI LE TEMPS LE PERMET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14000" y="3564000"/>
            <a:ext cx="3114000" cy="225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1999" y="3636000"/>
            <a:ext cx="289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AA3A9"/>
                </a:solidFill>
                <a:latin typeface="Montserrat SemiBold"/>
              </a:rPr>
              <a:t>À ÉCARTER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999" y="5885999"/>
            <a:ext cx="63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F6B73"/>
                </a:solidFill>
                <a:latin typeface="Montserrat SemiBold"/>
              </a:rPr>
              <a:t>Effort de mise en œuvre  →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763999" y="3401999"/>
            <a:ext cx="457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5F6B73"/>
                </a:solidFill>
                <a:latin typeface="Montserrat SemiBold"/>
              </a:rPr>
              <a:t>Valeur pour le comité  →</a:t>
            </a:r>
          </a:p>
        </p:txBody>
      </p:sp>
      <p:sp>
        <p:nvSpPr>
          <p:cNvPr id="13" name="Oval 12"/>
          <p:cNvSpPr/>
          <p:nvPr/>
        </p:nvSpPr>
        <p:spPr>
          <a:xfrm>
            <a:off x="2610000" y="1819800"/>
            <a:ext cx="251999" cy="251999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1999" y="1783800"/>
            <a:ext cx="27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Tableau de bord du comité</a:t>
            </a:r>
          </a:p>
        </p:txBody>
      </p:sp>
      <p:sp>
        <p:nvSpPr>
          <p:cNvPr id="15" name="Oval 14"/>
          <p:cNvSpPr/>
          <p:nvPr/>
        </p:nvSpPr>
        <p:spPr>
          <a:xfrm>
            <a:off x="1665000" y="287136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6999" y="2835360"/>
            <a:ext cx="27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Fiches projet</a:t>
            </a:r>
          </a:p>
        </p:txBody>
      </p:sp>
      <p:sp>
        <p:nvSpPr>
          <p:cNvPr id="17" name="Oval 16"/>
          <p:cNvSpPr/>
          <p:nvPr/>
        </p:nvSpPr>
        <p:spPr>
          <a:xfrm>
            <a:off x="5256000" y="22770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6000" y="2241000"/>
            <a:ext cx="27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Gestion de la demande</a:t>
            </a:r>
          </a:p>
        </p:txBody>
      </p:sp>
      <p:sp>
        <p:nvSpPr>
          <p:cNvPr id="19" name="Oval 18"/>
          <p:cNvSpPr/>
          <p:nvPr/>
        </p:nvSpPr>
        <p:spPr>
          <a:xfrm>
            <a:off x="5760000" y="43344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0000" y="4298400"/>
            <a:ext cx="27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Saisie des temps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6000" y="1260000"/>
            <a:ext cx="3491999" cy="4572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6000" y="1260000"/>
            <a:ext cx="792000" cy="576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4000" y="1458000"/>
            <a:ext cx="3096000" cy="42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Lecture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Le tableau de bord du comité : le plus de valeur pour un effort limité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Les fiches projet accélèrent l'adoption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La gestion de la demande se prépare dès la conception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La saisie des temps est reportée en phase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3. Démarche et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Une démarche en cinq étapes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407600" y="1728000"/>
            <a:ext cx="8524800" cy="0"/>
          </a:xfrm>
          <a:prstGeom prst="line">
            <a:avLst/>
          </a:prstGeom>
          <a:ln w="254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83600" y="1404000"/>
            <a:ext cx="648000" cy="64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2268000"/>
            <a:ext cx="1915200" cy="38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Cadrer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Ateliers de conception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897B"/>
                </a:solidFill>
                <a:latin typeface="Montserrat SemiBold"/>
              </a:rPr>
              <a:t>3 semaines</a:t>
            </a:r>
          </a:p>
        </p:txBody>
      </p:sp>
      <p:sp>
        <p:nvSpPr>
          <p:cNvPr id="6" name="Oval 5"/>
          <p:cNvSpPr/>
          <p:nvPr/>
        </p:nvSpPr>
        <p:spPr>
          <a:xfrm>
            <a:off x="3214800" y="1404000"/>
            <a:ext cx="648000" cy="648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1200" y="2268000"/>
            <a:ext cx="1915200" cy="38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Paramétrer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Configuration et flux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D7F01"/>
                </a:solidFill>
                <a:latin typeface="Montserrat SemiBold"/>
              </a:rPr>
              <a:t>6 semaines</a:t>
            </a:r>
          </a:p>
        </p:txBody>
      </p:sp>
      <p:sp>
        <p:nvSpPr>
          <p:cNvPr id="8" name="Oval 7"/>
          <p:cNvSpPr/>
          <p:nvPr/>
        </p:nvSpPr>
        <p:spPr>
          <a:xfrm>
            <a:off x="5346000" y="1404000"/>
            <a:ext cx="648000" cy="64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2400" y="2268000"/>
            <a:ext cx="1915200" cy="38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Reprendre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Import des 180 projets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897B"/>
                </a:solidFill>
                <a:latin typeface="Montserrat SemiBold"/>
              </a:rPr>
              <a:t>3 semaines</a:t>
            </a:r>
          </a:p>
        </p:txBody>
      </p:sp>
      <p:sp>
        <p:nvSpPr>
          <p:cNvPr id="10" name="Oval 9"/>
          <p:cNvSpPr/>
          <p:nvPr/>
        </p:nvSpPr>
        <p:spPr>
          <a:xfrm>
            <a:off x="7477200" y="1404000"/>
            <a:ext cx="648000" cy="64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 ExtraBol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3599" y="2268000"/>
            <a:ext cx="1915200" cy="38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Recetter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Tests avec le PMO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897B"/>
                </a:solidFill>
                <a:latin typeface="Montserrat SemiBold"/>
              </a:rPr>
              <a:t>3 semaines</a:t>
            </a:r>
          </a:p>
        </p:txBody>
      </p:sp>
      <p:sp>
        <p:nvSpPr>
          <p:cNvPr id="12" name="Oval 11"/>
          <p:cNvSpPr/>
          <p:nvPr/>
        </p:nvSpPr>
        <p:spPr>
          <a:xfrm>
            <a:off x="9608400" y="1404000"/>
            <a:ext cx="648000" cy="648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 ExtraBol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4800" y="2268000"/>
            <a:ext cx="1915200" cy="38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F3F3F"/>
                </a:solidFill>
                <a:latin typeface="Montserrat SemiBold"/>
              </a:rPr>
              <a:t>Déployer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Formation et ouverture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0897B"/>
                </a:solidFill>
                <a:latin typeface="Montserrat SemiBold"/>
              </a:rPr>
              <a:t>4 semaines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Une ouverture du service le 31 mars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808000" y="1260000"/>
            <a:ext cx="1332000" cy="360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90000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ontserrat SemiBold"/>
              </a:rPr>
              <a:t>Nov.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6000" y="1260000"/>
            <a:ext cx="1332000" cy="36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58000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F3F3F"/>
                </a:solidFill>
                <a:latin typeface="Montserrat SemiBold"/>
              </a:rPr>
              <a:t>Déc.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4000" y="1260000"/>
            <a:ext cx="1332000" cy="36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26000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F3F3F"/>
                </a:solidFill>
                <a:latin typeface="Montserrat SemiBold"/>
              </a:rPr>
              <a:t>Janv.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2000" y="1260000"/>
            <a:ext cx="1332000" cy="36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93999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F3F3F"/>
                </a:solidFill>
                <a:latin typeface="Montserrat SemiBold"/>
              </a:rPr>
              <a:t>Févr.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0" y="1260000"/>
            <a:ext cx="1332000" cy="36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2000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F3F3F"/>
                </a:solidFill>
                <a:latin typeface="Montserrat SemiBold"/>
              </a:rPr>
              <a:t>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8000" y="1260000"/>
            <a:ext cx="1332000" cy="360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0000" y="126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F3F3F"/>
                </a:solidFill>
                <a:latin typeface="Montserrat SemiBold"/>
              </a:rPr>
              <a:t>Avr.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000" y="1764000"/>
            <a:ext cx="10656000" cy="79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00" y="1764000"/>
            <a:ext cx="2268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Conception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6000" y="1938240"/>
            <a:ext cx="1296000" cy="443520"/>
          </a:xfrm>
          <a:prstGeom prst="roundRect">
            <a:avLst>
              <a:gd name="adj" fmla="val 3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 SemiBold"/>
              </a:rPr>
              <a:t>Ateliers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" y="2556000"/>
            <a:ext cx="2268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Paramétrage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4000" y="2730240"/>
            <a:ext cx="2116800" cy="443520"/>
          </a:xfrm>
          <a:prstGeom prst="roundRect">
            <a:avLst>
              <a:gd name="adj" fmla="val 30000"/>
            </a:avLst>
          </a:prstGeom>
          <a:solidFill>
            <a:srgbClr val="4DB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 SemiBold"/>
              </a:rPr>
              <a:t>Configuration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000" y="3348000"/>
            <a:ext cx="10656000" cy="79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000" y="3348000"/>
            <a:ext cx="2268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Données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62000" y="3522240"/>
            <a:ext cx="1569600" cy="443520"/>
          </a:xfrm>
          <a:prstGeom prst="roundRect">
            <a:avLst>
              <a:gd name="adj" fmla="val 30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 SemiBold"/>
              </a:rPr>
              <a:t>Reprise et flux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" y="4140000"/>
            <a:ext cx="2268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3F3F3F"/>
                </a:solidFill>
                <a:latin typeface="Montserrat SemiBold"/>
              </a:rPr>
              <a:t>Adoption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0000" y="4314240"/>
            <a:ext cx="2664000" cy="443520"/>
          </a:xfrm>
          <a:prstGeom prst="roundRect">
            <a:avLst>
              <a:gd name="adj" fmla="val 30000"/>
            </a:avLst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ontserrat SemiBold"/>
              </a:rPr>
              <a:t>Formation et ambassadeurs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800" y="1692000"/>
            <a:ext cx="0" cy="3240000"/>
          </a:xfrm>
          <a:prstGeom prst="line">
            <a:avLst/>
          </a:prstGeom>
          <a:ln w="19050">
            <a:solidFill>
              <a:srgbClr val="FD7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2800800" y="4950000"/>
            <a:ext cx="251999" cy="251999"/>
          </a:xfrm>
          <a:prstGeom prst="diamond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6800" y="523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D7F01"/>
                </a:solidFill>
                <a:latin typeface="Montserrat SemiBold"/>
              </a:rPr>
              <a:t>Kick-off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30000" y="1692000"/>
            <a:ext cx="0" cy="3240000"/>
          </a:xfrm>
          <a:prstGeom prst="line">
            <a:avLst/>
          </a:prstGeom>
          <a:ln w="19050">
            <a:solidFill>
              <a:srgbClr val="FD7F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9504000" y="4950000"/>
            <a:ext cx="251999" cy="251999"/>
          </a:xfrm>
          <a:prstGeom prst="diamond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0000" y="523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D7F01"/>
                </a:solidFill>
                <a:latin typeface="Montserrat SemiBold"/>
              </a:rPr>
              <a:t>Ouverture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Six jalons pour piloter le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30000" y="3751200"/>
            <a:ext cx="10080000" cy="57600"/>
          </a:xfrm>
          <a:prstGeom prst="rect">
            <a:avLst/>
          </a:prstGeom>
          <a:solidFill>
            <a:srgbClr val="D9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000" y="3751200"/>
            <a:ext cx="0" cy="576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3999" y="3654000"/>
            <a:ext cx="251999" cy="251999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30000" y="3420000"/>
            <a:ext cx="0" cy="180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000" y="1980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05/11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Kick-off client</a:t>
            </a:r>
          </a:p>
        </p:txBody>
      </p:sp>
      <p:sp>
        <p:nvSpPr>
          <p:cNvPr id="8" name="Oval 7"/>
          <p:cNvSpPr/>
          <p:nvPr/>
        </p:nvSpPr>
        <p:spPr>
          <a:xfrm>
            <a:off x="2466000" y="3600000"/>
            <a:ext cx="360000" cy="360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646000" y="3960000"/>
            <a:ext cx="0" cy="216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5999" y="4176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26/11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Conception validée</a:t>
            </a:r>
          </a:p>
        </p:txBody>
      </p:sp>
      <p:sp>
        <p:nvSpPr>
          <p:cNvPr id="11" name="Oval 10"/>
          <p:cNvSpPr/>
          <p:nvPr/>
        </p:nvSpPr>
        <p:spPr>
          <a:xfrm>
            <a:off x="4536000" y="3654000"/>
            <a:ext cx="251999" cy="251999"/>
          </a:xfrm>
          <a:prstGeom prst="ellipse">
            <a:avLst/>
          </a:prstGeom>
          <a:solidFill>
            <a:srgbClr val="9AA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4662000" y="3420000"/>
            <a:ext cx="0" cy="180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11999" y="1980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15/01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Paramétrage terminé</a:t>
            </a:r>
          </a:p>
        </p:txBody>
      </p:sp>
      <p:sp>
        <p:nvSpPr>
          <p:cNvPr id="14" name="Oval 13"/>
          <p:cNvSpPr/>
          <p:nvPr/>
        </p:nvSpPr>
        <p:spPr>
          <a:xfrm>
            <a:off x="6551999" y="3654000"/>
            <a:ext cx="251999" cy="251999"/>
          </a:xfrm>
          <a:prstGeom prst="ellipse">
            <a:avLst/>
          </a:prstGeom>
          <a:solidFill>
            <a:srgbClr val="9AA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677999" y="3960000"/>
            <a:ext cx="0" cy="216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27999" y="4176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05/02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Données reprises</a:t>
            </a:r>
          </a:p>
        </p:txBody>
      </p:sp>
      <p:sp>
        <p:nvSpPr>
          <p:cNvPr id="17" name="Oval 16"/>
          <p:cNvSpPr/>
          <p:nvPr/>
        </p:nvSpPr>
        <p:spPr>
          <a:xfrm>
            <a:off x="8567999" y="3654000"/>
            <a:ext cx="251999" cy="251999"/>
          </a:xfrm>
          <a:prstGeom prst="ellipse">
            <a:avLst/>
          </a:prstGeom>
          <a:solidFill>
            <a:srgbClr val="9AA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694000" y="3420000"/>
            <a:ext cx="0" cy="180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43999" y="1980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26/02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Recette validée</a:t>
            </a:r>
          </a:p>
        </p:txBody>
      </p:sp>
      <p:sp>
        <p:nvSpPr>
          <p:cNvPr id="20" name="Oval 19"/>
          <p:cNvSpPr/>
          <p:nvPr/>
        </p:nvSpPr>
        <p:spPr>
          <a:xfrm>
            <a:off x="10584000" y="3654000"/>
            <a:ext cx="251999" cy="251999"/>
          </a:xfrm>
          <a:prstGeom prst="ellipse">
            <a:avLst/>
          </a:prstGeom>
          <a:solidFill>
            <a:srgbClr val="9AA3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710000" y="3960000"/>
            <a:ext cx="0" cy="21600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98000" y="4176000"/>
            <a:ext cx="2700000" cy="14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31/03</a:t>
            </a:r>
          </a:p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Ouverture du service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Quatre phases, un livrable à chaque étape</a:t>
            </a:r>
          </a:p>
        </p:txBody>
      </p:sp>
      <p:sp>
        <p:nvSpPr>
          <p:cNvPr id="3" name="Pentagon 2"/>
          <p:cNvSpPr/>
          <p:nvPr/>
        </p:nvSpPr>
        <p:spPr>
          <a:xfrm>
            <a:off x="342000" y="1260000"/>
            <a:ext cx="2826000" cy="612000"/>
          </a:xfrm>
          <a:prstGeom prst="homePlat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 SemiBold"/>
              </a:rPr>
              <a:t>Cadrage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3999" y="2052000"/>
            <a:ext cx="2448000" cy="410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000" y="2196000"/>
            <a:ext cx="212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Novembre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00" y="2592000"/>
            <a:ext cx="2124000" cy="349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Kick-off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Ateliers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Livrable : </a:t>
            </a:r>
            <a:r>
              <a:rPr sz="1400" b="0" i="0">
                <a:solidFill>
                  <a:srgbClr val="5F6B73"/>
                </a:solidFill>
                <a:latin typeface="Montserrat"/>
              </a:rPr>
              <a:t>dossier de conception</a:t>
            </a:r>
          </a:p>
        </p:txBody>
      </p:sp>
      <p:sp>
        <p:nvSpPr>
          <p:cNvPr id="7" name="Chevron 6"/>
          <p:cNvSpPr/>
          <p:nvPr/>
        </p:nvSpPr>
        <p:spPr>
          <a:xfrm>
            <a:off x="3006000" y="1260000"/>
            <a:ext cx="2826000" cy="612000"/>
          </a:xfrm>
          <a:prstGeom prst="chevron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 SemiBold"/>
              </a:rPr>
              <a:t>Paramétrage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7999" y="2052000"/>
            <a:ext cx="2448000" cy="4104000"/>
          </a:xfrm>
          <a:prstGeom prst="roundRect">
            <a:avLst>
              <a:gd name="adj" fmla="val 8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7999" y="2196000"/>
            <a:ext cx="212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Déc. – Janv.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7999" y="2592000"/>
            <a:ext cx="2124000" cy="349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Configuration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Flux d'import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Livrable : </a:t>
            </a:r>
            <a:r>
              <a:rPr sz="1400" b="0" i="0">
                <a:solidFill>
                  <a:srgbClr val="5F6B73"/>
                </a:solidFill>
                <a:latin typeface="Montserrat"/>
              </a:rPr>
              <a:t>plateforme paramétrée</a:t>
            </a:r>
          </a:p>
        </p:txBody>
      </p:sp>
      <p:sp>
        <p:nvSpPr>
          <p:cNvPr id="11" name="Chevron 10"/>
          <p:cNvSpPr/>
          <p:nvPr/>
        </p:nvSpPr>
        <p:spPr>
          <a:xfrm>
            <a:off x="5670000" y="1260000"/>
            <a:ext cx="2826000" cy="612000"/>
          </a:xfrm>
          <a:prstGeom prst="chevron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 SemiBold"/>
              </a:rPr>
              <a:t>Recette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000" y="2052000"/>
            <a:ext cx="2448000" cy="410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2000" y="2196000"/>
            <a:ext cx="212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Février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2000" y="2592000"/>
            <a:ext cx="2124000" cy="349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Tests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Corrections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Livrable : </a:t>
            </a:r>
            <a:r>
              <a:rPr sz="1400" b="0" i="0">
                <a:solidFill>
                  <a:srgbClr val="5F6B73"/>
                </a:solidFill>
                <a:latin typeface="Montserrat"/>
              </a:rPr>
              <a:t>PV de recette</a:t>
            </a:r>
          </a:p>
        </p:txBody>
      </p:sp>
      <p:sp>
        <p:nvSpPr>
          <p:cNvPr id="15" name="Chevron 14"/>
          <p:cNvSpPr/>
          <p:nvPr/>
        </p:nvSpPr>
        <p:spPr>
          <a:xfrm>
            <a:off x="8334000" y="1260000"/>
            <a:ext cx="2826000" cy="612000"/>
          </a:xfrm>
          <a:prstGeom prst="chevron">
            <a:avLst/>
          </a:prstGeom>
          <a:solidFill>
            <a:srgbClr val="4DB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1700" b="1" i="0">
                <a:solidFill>
                  <a:srgbClr val="FFFFFF"/>
                </a:solidFill>
                <a:latin typeface="Montserrat SemiBold"/>
              </a:rPr>
              <a:t>Déploiement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06000" y="2052000"/>
            <a:ext cx="2448000" cy="410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000" y="2196000"/>
            <a:ext cx="212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Mars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000" y="2592000"/>
            <a:ext cx="2124000" cy="349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Formation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500" b="0" i="0">
                <a:solidFill>
                  <a:srgbClr val="3F3F3F"/>
                </a:solidFill>
                <a:latin typeface="Montserrat"/>
              </a:rPr>
              <a:t>Ouverture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F3F3F"/>
                </a:solidFill>
                <a:latin typeface="Montserrat SemiBold"/>
              </a:rPr>
              <a:t>Livrable : </a:t>
            </a:r>
            <a:r>
              <a:rPr sz="1400" b="0" i="0">
                <a:solidFill>
                  <a:srgbClr val="5F6B73"/>
                </a:solidFill>
                <a:latin typeface="Montserrat"/>
              </a:rPr>
              <a:t>service ouvert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Une équipe dédiée, des deux côtés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2448000" cy="2015999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999" y="1475999"/>
            <a:ext cx="684000" cy="684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5999" y="1440000"/>
            <a:ext cx="126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89" b="1" i="0">
                <a:solidFill>
                  <a:srgbClr val="3F3F3F"/>
                </a:solidFill>
                <a:latin typeface="Montserrat SemiBold"/>
              </a:rPr>
              <a:t>Chef de projet Triskell</a:t>
            </a:r>
          </a:p>
          <a:p>
            <a:pPr algn="l">
              <a:spcAft>
                <a:spcPts val="400"/>
              </a:spcAft>
            </a:pPr>
            <a:r>
              <a:rPr sz="979" b="1" i="0">
                <a:solidFill>
                  <a:srgbClr val="00897B"/>
                </a:solidFill>
                <a:latin typeface="Montserrat SemiBold"/>
              </a:rPr>
              <a:t>Directeur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999" y="2304000"/>
            <a:ext cx="2016000" cy="86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Pilote le planning et la gouvernance.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000" y="1260000"/>
            <a:ext cx="2448000" cy="2015999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4000" y="1475999"/>
            <a:ext cx="684000" cy="684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2000" y="1440000"/>
            <a:ext cx="126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95" b="1" i="0">
                <a:solidFill>
                  <a:srgbClr val="3F3F3F"/>
                </a:solidFill>
                <a:latin typeface="Montserrat SemiBold"/>
              </a:rPr>
              <a:t>Consultant PPM</a:t>
            </a:r>
          </a:p>
          <a:p>
            <a:pPr algn="l">
              <a:spcAft>
                <a:spcPts val="400"/>
              </a:spcAft>
            </a:pPr>
            <a:r>
              <a:rPr sz="1231" b="1" i="0">
                <a:solidFill>
                  <a:srgbClr val="00897B"/>
                </a:solidFill>
                <a:latin typeface="Montserrat SemiBold"/>
              </a:rPr>
              <a:t>Paramétrage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4000" y="2304000"/>
            <a:ext cx="2016000" cy="86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Traduit votre méthode dans la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4000" y="1260000"/>
            <a:ext cx="2448000" cy="2015999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0000" y="1475999"/>
            <a:ext cx="684000" cy="684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40000"/>
            <a:ext cx="126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F3F3F"/>
                </a:solidFill>
                <a:latin typeface="Montserrat SemiBold"/>
              </a:rPr>
              <a:t>Architecte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Intégrations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0000" y="2304000"/>
            <a:ext cx="2016000" cy="86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SSO et flux d'import.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0000" y="1260000"/>
            <a:ext cx="2448000" cy="2015999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66000" y="1475999"/>
            <a:ext cx="684000" cy="6840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 ExtraBold"/>
              </a:rPr>
              <a:t>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4000" y="1440000"/>
            <a:ext cx="126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95" b="1" i="0">
                <a:solidFill>
                  <a:srgbClr val="3F3F3F"/>
                </a:solidFill>
                <a:latin typeface="Montserrat SemiBold"/>
              </a:rPr>
              <a:t>Directeur PMO</a:t>
            </a:r>
          </a:p>
          <a:p>
            <a:pPr algn="l">
              <a:spcAft>
                <a:spcPts val="400"/>
              </a:spcAft>
            </a:pPr>
            <a:r>
              <a:rPr sz="1231" b="1" i="0">
                <a:solidFill>
                  <a:srgbClr val="00897B"/>
                </a:solidFill>
                <a:latin typeface="Montserrat SemiBold"/>
              </a:rPr>
              <a:t>Sponsor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000" y="2304000"/>
            <a:ext cx="2016000" cy="86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Arbitre et préside le COPIL.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4. Investissement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Trois formules selon votre ambition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2000" y="1260000"/>
            <a:ext cx="3360000" cy="792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000" y="1475999"/>
            <a:ext cx="285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F3F3F"/>
                </a:solidFill>
                <a:latin typeface="Montserrat SemiBold"/>
              </a:rPr>
              <a:t>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00" y="1944000"/>
            <a:ext cx="2856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77" b="1" i="0">
                <a:solidFill>
                  <a:srgbClr val="1A2832"/>
                </a:solidFill>
                <a:latin typeface="Montserrat ExtraBold"/>
              </a:rPr>
              <a:t>À partir de 15 k€</a:t>
            </a:r>
          </a:p>
          <a:p>
            <a:pPr algn="l">
              <a:spcAft>
                <a:spcPts val="400"/>
              </a:spcAft>
            </a:pPr>
            <a:r>
              <a:rPr sz="870" b="0" i="0">
                <a:solidFill>
                  <a:srgbClr val="5F6B73"/>
                </a:solidFill>
                <a:latin typeface="Montserrat"/>
              </a:rPr>
              <a:t>implémentation HT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000" y="2844000"/>
            <a:ext cx="2856000" cy="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000" y="2988000"/>
            <a:ext cx="2856000" cy="20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Le standard Triskell, prêt à l'emploi.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Paramétrage standard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Formation administrateur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0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90000" y="1260000"/>
            <a:ext cx="3360000" cy="79200"/>
          </a:xfrm>
          <a:prstGeom prst="rect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6000" y="1475999"/>
            <a:ext cx="1368000" cy="306000"/>
          </a:xfrm>
          <a:prstGeom prst="roundRect">
            <a:avLst>
              <a:gd name="adj" fmla="val 6000"/>
            </a:avLst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ontserrat SemiBold"/>
              </a:rPr>
              <a:t>Recommandé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000" y="1475999"/>
            <a:ext cx="141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F3F3F"/>
                </a:solidFill>
                <a:latin typeface="Montserrat SemiBold"/>
              </a:rPr>
              <a:t>Adapt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000" y="1944000"/>
            <a:ext cx="2856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95" b="1" i="0">
                <a:solidFill>
                  <a:srgbClr val="FD7F01"/>
                </a:solidFill>
                <a:latin typeface="Montserrat ExtraBold"/>
              </a:rPr>
              <a:t>25 k€</a:t>
            </a:r>
          </a:p>
          <a:p>
            <a:pPr algn="l">
              <a:spcAft>
                <a:spcPts val="400"/>
              </a:spcAft>
            </a:pPr>
            <a:r>
              <a:rPr sz="1222" b="0" i="0">
                <a:solidFill>
                  <a:srgbClr val="5F6B73"/>
                </a:solidFill>
                <a:latin typeface="Montserrat"/>
              </a:rPr>
              <a:t>implémentation 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42000" y="2844000"/>
            <a:ext cx="2856000" cy="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42000" y="2988000"/>
            <a:ext cx="2856000" cy="20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Le standard adapté à votre méthode.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Méthode Phase &amp; Gate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2 flux d'import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D7F01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Formation et ambassadeurs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8000" y="1260000"/>
            <a:ext cx="3360000" cy="3960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8000" y="1260000"/>
            <a:ext cx="3360000" cy="792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0000" y="1475999"/>
            <a:ext cx="285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3F3F3F"/>
                </a:solidFill>
                <a:latin typeface="Montserrat SemiBold"/>
              </a:rPr>
              <a:t>Plateform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000" y="1944000"/>
            <a:ext cx="2856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95" b="1" i="0">
                <a:solidFill>
                  <a:srgbClr val="1A2832"/>
                </a:solidFill>
                <a:latin typeface="Montserrat ExtraBold"/>
              </a:rPr>
              <a:t>Sur devis</a:t>
            </a:r>
          </a:p>
          <a:p>
            <a:pPr algn="l">
              <a:spcAft>
                <a:spcPts val="400"/>
              </a:spcAft>
            </a:pPr>
          </a:p>
        </p:txBody>
      </p:sp>
      <p:cxnSp>
        <p:nvCxnSpPr>
          <p:cNvPr id="20" name="Connector 19"/>
          <p:cNvCxnSpPr/>
          <p:nvPr/>
        </p:nvCxnSpPr>
        <p:spPr>
          <a:xfrm>
            <a:off x="7890000" y="2844000"/>
            <a:ext cx="2856000" cy="0"/>
          </a:xfrm>
          <a:prstGeom prst="line">
            <a:avLst/>
          </a:prstGeom>
          <a:ln w="1270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90000" y="2988000"/>
            <a:ext cx="2856000" cy="20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Une plateforme sur mesure.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Processus spécifiques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▪  </a:t>
            </a:r>
            <a:r>
              <a:rPr sz="1400" b="0" i="0">
                <a:solidFill>
                  <a:srgbClr val="3F3F3F"/>
                </a:solidFill>
                <a:latin typeface="Montserrat"/>
              </a:rPr>
              <a:t>Intégrations multiples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" y="6263999"/>
            <a:ext cx="885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Montants fictifs pour l'exemple.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 budget maîtrisé sur trois ans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6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2664000"/>
                <a:gridCol w="2664000"/>
                <a:gridCol w="2664000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Poste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1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2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Année 3</a:t>
                      </a:r>
                    </a:p>
                  </a:txBody>
                  <a:tcPr marL="108000" marR="108000" marT="36000" marB="36000" anchor="ctr">
                    <a:solidFill>
                      <a:srgbClr val="FC8B00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Licences (40 utilisateurs)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22 000 €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22 000 €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22 000 €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Implémentation Adapt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25 000 €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3F3F3F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Total HT</a:t>
                      </a:r>
                    </a:p>
                  </a:txBody>
                  <a:tcPr marL="108000" marR="108000" marT="36000" marB="36000" anchor="ctr"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47 000 €</a:t>
                      </a:r>
                    </a:p>
                  </a:txBody>
                  <a:tcPr marL="108000" marR="108000" marT="36000" marB="36000" anchor="ctr"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22 000 €</a:t>
                      </a:r>
                    </a:p>
                  </a:txBody>
                  <a:tcPr marL="108000" marR="108000" marT="36000" marB="36000" anchor="ctr"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22 000 €</a:t>
                      </a:r>
                    </a:p>
                  </a:txBody>
                  <a:tcPr marL="108000" marR="108000" marT="36000" marB="36000" anchor="ctr">
                    <a:solidFill>
                      <a:srgbClr val="E6F5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2000" y="6138000"/>
            <a:ext cx="88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9AA3A9"/>
                </a:solidFill>
                <a:latin typeface="Montserrat"/>
              </a:rPr>
              <a:t>Source : proposition commerciale, exemple fictif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3999" y="936000"/>
            <a:ext cx="2160000" cy="2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50" b="1" i="0">
                <a:solidFill>
                  <a:srgbClr val="FD7F01"/>
                </a:solidFill>
                <a:latin typeface="Montserrat ExtraBold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8000" y="1944000"/>
            <a:ext cx="9180000" cy="23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A2832"/>
                </a:solidFill>
                <a:latin typeface="Montserrat SemiBold"/>
              </a:rPr>
              <a:t>Nous voulons arriver au comité de mars avec un seul chiffre par projet, le même pour tous.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8000" y="4392000"/>
            <a:ext cx="864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897B"/>
                </a:solidFill>
                <a:latin typeface="Montserrat SemiBold"/>
              </a:rPr>
              <a:t>Directeur PMO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Client Alpha (exemple fictif)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5. Prochaines étapes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 qu'il reste à réunir pour démarrer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000" y="1260000"/>
            <a:ext cx="6120000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Point de contrôle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62000" y="1260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Oui / 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8000" y="1260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Porteur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3999" y="1260000"/>
            <a:ext cx="2880000" cy="55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AA3A9"/>
                </a:solidFill>
                <a:latin typeface="Montserrat SemiBold"/>
              </a:rPr>
              <a:t>Commentaire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1818000"/>
            <a:ext cx="5976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Proposition validée par le sponsor</a:t>
            </a:r>
          </a:p>
        </p:txBody>
      </p:sp>
      <p:pic>
        <p:nvPicPr>
          <p:cNvPr id="8" name="Picture 7" descr="icone-o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1943999"/>
            <a:ext cx="306000" cy="30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98000" y="1818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3999" y="1818000"/>
            <a:ext cx="26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270000" y="2358000"/>
            <a:ext cx="10800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000" y="2376000"/>
            <a:ext cx="5976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3F3F3F"/>
                </a:solidFill>
                <a:latin typeface="Montserrat SemiBold"/>
              </a:rPr>
              <a:t>Bon de commande émis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2000" y="2376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8000" y="2376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Achats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3999" y="2376000"/>
            <a:ext cx="26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42000" y="2934000"/>
            <a:ext cx="5976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F3F3F"/>
                </a:solidFill>
                <a:latin typeface="Montserrat"/>
              </a:rPr>
              <a:t>Administrateur de la solution désigné</a:t>
            </a:r>
          </a:p>
        </p:txBody>
      </p:sp>
      <p:pic>
        <p:nvPicPr>
          <p:cNvPr id="17" name="Picture 16" descr="icone-n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00" y="3060000"/>
            <a:ext cx="306000" cy="30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98000" y="2934000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999" y="2934000"/>
            <a:ext cx="26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Deux candidats pressentis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" y="3473999"/>
            <a:ext cx="10800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000" y="3491999"/>
            <a:ext cx="5976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F3F3F"/>
                </a:solidFill>
                <a:latin typeface="Montserrat"/>
              </a:rPr>
              <a:t>Accès SSO validés par la DSI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2000" y="3491999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D7F01"/>
                </a:solidFill>
                <a:latin typeface="Montserrat SemiBold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8000" y="3491999"/>
            <a:ext cx="8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897B"/>
                </a:solidFill>
                <a:latin typeface="Montserrat SemiBold"/>
              </a:rPr>
              <a:t>DSI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3999" y="3491999"/>
            <a:ext cx="2664000" cy="5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342000" y="5760000"/>
            <a:ext cx="9360000" cy="503999"/>
          </a:xfrm>
          <a:prstGeom prst="roundRect">
            <a:avLst>
              <a:gd name="adj" fmla="val 6000"/>
            </a:avLst>
          </a:prstGeom>
          <a:solidFill>
            <a:srgbClr val="E0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ontserrat SemiBold"/>
              </a:rPr>
              <a:t>Verdict : NO GO  ·  1 oui · 1 non · 2 à vérifier  ·  bloquant : Bon de commande émis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 actions des trois prochaines semaines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000" y="1260000"/>
          <a:ext cx="10655999" cy="2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000"/>
                <a:gridCol w="5650909"/>
                <a:gridCol w="1776000"/>
                <a:gridCol w="1453090"/>
              </a:tblGrid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Équipe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Action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Porteur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ontserrat SemiBold"/>
                        </a:rPr>
                        <a:t>Échéance</a:t>
                      </a:r>
                    </a:p>
                  </a:txBody>
                  <a:tcPr marL="108000" marR="108000" marT="36000" marB="36000" anchor="ctr">
                    <a:solidFill>
                      <a:srgbClr val="00897B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Client Alpha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Émettre le bon de commande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Achats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25/10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Client Alpha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Désigner l'administrateur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Sponsor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29/10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Triskell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Envoyer le planning détaillé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DP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28/10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3F3F3F"/>
                          </a:solidFill>
                          <a:latin typeface="Montserrat SemiBold"/>
                        </a:rPr>
                        <a:t>Triskell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Préparer le kick-off client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DP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i="0">
                          <a:solidFill>
                            <a:srgbClr val="3F3F3F"/>
                          </a:solidFill>
                          <a:latin typeface="Montserrat"/>
                        </a:rPr>
                        <a:t>04/11</a:t>
                      </a:r>
                    </a:p>
                  </a:txBody>
                  <a:tcPr marL="108000" marR="108000" marT="36000" marB="36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 que nous vous proposons de décider aujourd'hui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000" y="1260000"/>
            <a:ext cx="7200000" cy="95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2000" y="1503000"/>
            <a:ext cx="468000" cy="468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000" y="1314000"/>
            <a:ext cx="4464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F3F3F"/>
                </a:solidFill>
                <a:latin typeface="Montserrat SemiBold"/>
              </a:rPr>
              <a:t>Valider la formule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6000" y="1314000"/>
            <a:ext cx="1728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Sponsor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Montserrat"/>
              </a:rPr>
              <a:t>aujourd'hui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2340000"/>
            <a:ext cx="7200000" cy="95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2000" y="2583000"/>
            <a:ext cx="468000" cy="468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 Extra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000" y="2394000"/>
            <a:ext cx="4464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F3F3F"/>
                </a:solidFill>
                <a:latin typeface="Montserrat SemiBold"/>
              </a:rPr>
              <a:t>Émettre le bon de 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6000" y="2394000"/>
            <a:ext cx="1728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Achats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Montserrat"/>
              </a:rPr>
              <a:t>sous 10 jours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" y="3420000"/>
            <a:ext cx="7200000" cy="954000"/>
          </a:xfrm>
          <a:prstGeom prst="roundRect">
            <a:avLst>
              <a:gd name="adj" fmla="val 8000"/>
            </a:avLst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2000" y="3663000"/>
            <a:ext cx="468000" cy="468000"/>
          </a:xfrm>
          <a:prstGeom prst="ellipse">
            <a:avLst/>
          </a:prstGeom>
          <a:solidFill>
            <a:srgbClr val="FD7F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 Extra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000" y="3474000"/>
            <a:ext cx="4464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F3F3F"/>
                </a:solidFill>
                <a:latin typeface="Montserrat SemiBold"/>
              </a:rPr>
              <a:t>Fixer la date du kick-off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6000" y="3474000"/>
            <a:ext cx="1728000" cy="84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897B"/>
                </a:solidFill>
                <a:latin typeface="Montserrat SemiBold"/>
              </a:rPr>
              <a:t>PMO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F6B73"/>
                </a:solidFill>
                <a:latin typeface="Montserrat"/>
              </a:rPr>
              <a:t>cette semaine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0000" y="1260000"/>
            <a:ext cx="3168000" cy="4896000"/>
          </a:xfrm>
          <a:prstGeom prst="roundRect">
            <a:avLst>
              <a:gd name="adj" fmla="val 5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2000" y="1548000"/>
            <a:ext cx="2664000" cy="4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E6F5F3"/>
                </a:solidFill>
                <a:latin typeface="Montserrat SemiBold"/>
              </a:rPr>
              <a:t>PROCHAIN RENDEZ-VOUS</a:t>
            </a:r>
          </a:p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FFFFF"/>
                </a:solidFill>
                <a:latin typeface="Montserrat SemiBold"/>
              </a:rPr>
              <a:t>Kick-off le 5 novembre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Votre contact : chef de projet Triskell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2000" y="4824000"/>
            <a:ext cx="7920000" cy="12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3F3F3F"/>
                </a:solidFill>
                <a:latin typeface="Montserrat SemiBold"/>
              </a:rPr>
              <a:t>Merci pour votre confiance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73"/>
                </a:solidFill>
                <a:latin typeface="Montserrat"/>
              </a:rPr>
              <a:t>Triskell Software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nception personnalisée">
  <a:themeElements>
    <a:clrScheme name="TSF 2023">
      <a:dk1>
        <a:srgbClr val="FC8B00"/>
      </a:dk1>
      <a:lt1>
        <a:srgbClr val="FFFFFF"/>
      </a:lt1>
      <a:dk2>
        <a:srgbClr val="3F3F3F"/>
      </a:dk2>
      <a:lt2>
        <a:srgbClr val="F2F2F2"/>
      </a:lt2>
      <a:accent1>
        <a:srgbClr val="E66C08"/>
      </a:accent1>
      <a:accent2>
        <a:srgbClr val="FC8B00"/>
      </a:accent2>
      <a:accent3>
        <a:srgbClr val="FFC127"/>
      </a:accent3>
      <a:accent4>
        <a:srgbClr val="E6F5F3"/>
      </a:accent4>
      <a:accent5>
        <a:srgbClr val="4DB6AC"/>
      </a:accent5>
      <a:accent6>
        <a:srgbClr val="00897B"/>
      </a:accent6>
      <a:hlink>
        <a:srgbClr val="1155CC"/>
      </a:hlink>
      <a:folHlink>
        <a:srgbClr val="FC8B00"/>
      </a:folHlink>
    </a:clrScheme>
    <a:fontScheme name="TSF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e87ddd-1965-4434-b375-78d8ba310662">
      <Terms xmlns="http://schemas.microsoft.com/office/infopath/2007/PartnerControls"/>
    </lcf76f155ced4ddcb4097134ff3c332f>
    <TaxCatchAll xmlns="8b379bb0-b64f-4c40-a28d-6eedbeec02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F8389F853A2D4C808A54B181D22240" ma:contentTypeVersion="11" ma:contentTypeDescription="Create a new document." ma:contentTypeScope="" ma:versionID="75491026da3992e01105bf8f02669a38">
  <xsd:schema xmlns:xsd="http://www.w3.org/2001/XMLSchema" xmlns:xs="http://www.w3.org/2001/XMLSchema" xmlns:p="http://schemas.microsoft.com/office/2006/metadata/properties" xmlns:ns2="bee87ddd-1965-4434-b375-78d8ba310662" xmlns:ns3="8b379bb0-b64f-4c40-a28d-6eedbeec024c" targetNamespace="http://schemas.microsoft.com/office/2006/metadata/properties" ma:root="true" ma:fieldsID="b99c8e9aa937e6132e943c4cc89f3feb" ns2:_="" ns3:_="">
    <xsd:import namespace="bee87ddd-1965-4434-b375-78d8ba310662"/>
    <xsd:import namespace="8b379bb0-b64f-4c40-a28d-6eedbeec02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e87ddd-1965-4434-b375-78d8ba3106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c391405-6ef0-418d-9473-03ba94dcf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79bb0-b64f-4c40-a28d-6eedbeec024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a278d91-1346-4597-b21f-5d44c184eb51}" ma:internalName="TaxCatchAll" ma:showField="CatchAllData" ma:web="8b379bb0-b64f-4c40-a28d-6eedbeec02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13075F-BF36-4913-BC97-113B6E93F4E5}">
  <ds:schemaRefs>
    <ds:schemaRef ds:uri="6930a3a8-6a7c-4999-8ded-608c83ac8722"/>
    <ds:schemaRef ds:uri="a6005d0a-c365-4ed3-a966-415884f5eb4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2578b5e-4a58-4773-b99e-6be304b5d6e7"/>
    <ds:schemaRef ds:uri="6d861d32-871f-444c-b12b-4718fd34f955"/>
    <ds:schemaRef ds:uri="bee87ddd-1965-4434-b375-78d8ba310662"/>
    <ds:schemaRef ds:uri="8b379bb0-b64f-4c40-a28d-6eedbeec024c"/>
  </ds:schemaRefs>
</ds:datastoreItem>
</file>

<file path=customXml/itemProps2.xml><?xml version="1.0" encoding="utf-8"?>
<ds:datastoreItem xmlns:ds="http://schemas.openxmlformats.org/officeDocument/2006/customXml" ds:itemID="{64D4EE80-2BD6-4E4E-B8C8-97C8874E4A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2F03DD-8905-4997-8AB9-F45D9CDC07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1725</Words>
  <Application>Microsoft Office PowerPoint</Application>
  <PresentationFormat>Grand écran</PresentationFormat>
  <Paragraphs>419</Paragraphs>
  <Slides>34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5" baseType="lpstr">
      <vt:lpstr>Aharoni</vt:lpstr>
      <vt:lpstr>Arial</vt:lpstr>
      <vt:lpstr>Modern Love Caps</vt:lpstr>
      <vt:lpstr>Montserrat</vt:lpstr>
      <vt:lpstr>Montserrat  </vt:lpstr>
      <vt:lpstr>Montserrat ExtraBold</vt:lpstr>
      <vt:lpstr>Montserrat Medium</vt:lpstr>
      <vt:lpstr>Plus Jakarta Sans</vt:lpstr>
      <vt:lpstr>Police système Courant</vt:lpstr>
      <vt:lpstr>Ubuntu</vt:lpstr>
      <vt:lpstr>1_Conception personnalisée</vt:lpstr>
      <vt:lpstr>Transition de la DC vers la DSC  [date – Version x.x]  </vt:lpstr>
      <vt:lpstr>Préambule</vt:lpstr>
      <vt:lpstr>Participants à la réunion</vt:lpstr>
      <vt:lpstr>Présentation PowerPoint</vt:lpstr>
      <vt:lpstr>Présentation PowerPoint</vt:lpstr>
      <vt:lpstr>Présentation du client</vt:lpstr>
      <vt:lpstr>Contexte (1/2) </vt:lpstr>
      <vt:lpstr>Contexte (2/2) </vt:lpstr>
      <vt:lpstr>Présentation PowerPoint</vt:lpstr>
      <vt:lpstr>Les interlocuteurs-clés côté Client</vt:lpstr>
      <vt:lpstr>Présentation PowerPoint</vt:lpstr>
      <vt:lpstr>Périmètre fonctionnel (1/2)</vt:lpstr>
      <vt:lpstr>Périmètre fonctionnel (2/2) : Echanges Client du xx/xx/xx</vt:lpstr>
      <vt:lpstr>Licences - Configuration &amp; aspects techniques</vt:lpstr>
      <vt:lpstr>Implémentation, Services &amp; Aspects contractuels</vt:lpstr>
      <vt:lpstr>Présentation PowerPoint</vt:lpstr>
      <vt:lpstr>Cadencement de l’implémentation</vt:lpstr>
      <vt:lpstr>Démarrage projet</vt:lpstr>
      <vt:lpstr>Planning prévisionnel (1/3)</vt:lpstr>
      <vt:lpstr>Planning prévisionnel (2/3)</vt:lpstr>
      <vt:lpstr>Planning prévisionnel (3/3)</vt:lpstr>
      <vt:lpstr>Répartition des charges</vt:lpstr>
      <vt:lpstr>Présentation PowerPoint</vt:lpstr>
      <vt:lpstr>Chiffrage - Licences </vt:lpstr>
      <vt:lpstr>Chiffrage - Implémentation </vt:lpstr>
      <vt:lpstr>Présentation PowerPoint</vt:lpstr>
      <vt:lpstr>Facturation</vt:lpstr>
      <vt:lpstr>Présentation PowerPoint</vt:lpstr>
      <vt:lpstr>MKG – Le client accepte-il de communiquer ? </vt:lpstr>
      <vt:lpstr>Présentation PowerPoint</vt:lpstr>
      <vt:lpstr>Actions à mener en sortie du kick-off interne TSF (1/2)</vt:lpstr>
      <vt:lpstr>Actions à mener en sortie du kick-off Client (2/2)</vt:lpstr>
      <vt:lpstr>Eléments de check-list « GO Projet »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Piloter le portefeuille projets de Client Alpha</dc:title>
  <dc:creator>Triskell Software France</dc:creator>
  <cp:lastModifiedBy>Céline GUIHOU</cp:lastModifiedBy>
  <cp:revision>1</cp:revision>
  <dcterms:modified xsi:type="dcterms:W3CDTF">2026-06-09T09:18:14Z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0x01010028F8389F853A2D4C808A54B181D22240</vt:lpwstr>
  </property>
  <property fmtid="{D5CDD505-2E9C-101B-9397-08002B2CF9AE}" pid="3" name="Order">
    <vt:r8>2018600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TemplateUrl">
    <vt:lpwstr/>
  </property>
</Properties>
</file>